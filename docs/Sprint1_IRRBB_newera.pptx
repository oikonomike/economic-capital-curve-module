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4"/>
  </p:normalViewPr>
  <p:slideViewPr>
    <p:cSldViewPr snapToGrid="0" snapToObjects="1" showGuides="1">
      <p:cViewPr varScale="1">
        <p:scale>
          <a:sx n="165" d="100"/>
          <a:sy n="165" d="100"/>
        </p:scale>
        <p:origin x="66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Здравствуйте, мы команда 2. Наш проект — стресс-сценарии процентного риска на кривой доходности ОФЗ.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Нас четверо. Я тимлид. Михаил отвечает за данные и инфраструктуру, Ярослав за расчёт, Александр за визуализацию.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Мы берём с биржи кривую доходности ОФЗ, приводим её к 19 срокам, которые задаёт Банк России, и строим шесть стрессовых вариантов. Для трёх самых коротких сроков данных биржи нет, поэтому берём ближайшее значение, остальные считаем линейной интерполяцией. Эти кривые нужны командам 1 и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Сценарии 1 и 2 сдвигают всю кривую на 4 процентных пункта. В сценариях 3–6 шок затухает с ростом срока: e в степени минус T на четыре почти равно единице для коротких сроков и стремится к нулю для длинных. Все формулы и параметры взяты из методических рекомендаций Банка России 8-МР.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Красная толстая линия — базовая кривая, остальные шесть — сценарии. Параллельные просто выше и ниже. Непараллельные меняют форму: при увеличении наклона короткий конец уходит вниз, а длинный вверх. Рост и снижение коротких ставок меняют в основном левую часть кривой.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Работу вели в Сфера.Задачи: пять задач спринта, все закрыты. Код и данные лежат в репозитории на GitLab МАИ, по QR-коду можно открыть его.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За спринт мы разобрались с темой, выгрузили данные с биржи, привели их к срокам Банка России, посчитали шесть сценариев и проверили формулу на примере заказчика, построили графики и наладили работу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Сейчас расчёт в Excel. Цель — модуль, который сам забирает кривую с биржи, считает сценарии на Python, хранит результаты в базе и показывает их на сайте с графиками. Команды 1 и 3 будут брать наши кривые из базы. Стек предварительный.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 следующем спринте автоматизируем загрузку, перенесём расчёт в код и сделаем первую версию сайта. Спасибо за внимание, готовы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3D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/>
        </p:nvSpPr>
        <p:spPr>
          <a:xfrm>
            <a:off x="548640" y="1280160"/>
            <a:ext cx="8046720" cy="1554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dirty="0" err="1">
                <a:solidFill>
                  <a:srgbClr val="FFFFFF"/>
                </a:solidFill>
                <a:latin typeface="Cambria" panose="02040503050406030204"/>
              </a:rPr>
              <a:t>Стресс-сценарии</a:t>
            </a:r>
            <a:r>
              <a:rPr sz="3800" b="1" dirty="0">
                <a:solidFill>
                  <a:srgbClr val="FFFFFF"/>
                </a:solidFill>
                <a:latin typeface="Cambria" panose="02040503050406030204"/>
              </a:rPr>
              <a:t> IRRBB </a:t>
            </a:r>
            <a:r>
              <a:rPr sz="3800" b="1" dirty="0" err="1">
                <a:solidFill>
                  <a:srgbClr val="FFFFFF"/>
                </a:solidFill>
                <a:latin typeface="Cambria" panose="02040503050406030204"/>
              </a:rPr>
              <a:t>на</a:t>
            </a:r>
            <a:r>
              <a:rPr sz="3800" b="1" dirty="0">
                <a:solidFill>
                  <a:srgbClr val="FFFFFF"/>
                </a:solidFill>
                <a:latin typeface="Cambria" panose="02040503050406030204"/>
              </a:rPr>
              <a:t> </a:t>
            </a:r>
            <a:r>
              <a:rPr sz="3800" b="1" dirty="0" err="1">
                <a:solidFill>
                  <a:srgbClr val="FFFFFF"/>
                </a:solidFill>
                <a:latin typeface="Cambria" panose="02040503050406030204"/>
              </a:rPr>
              <a:t>кривой</a:t>
            </a:r>
            <a:r>
              <a:rPr sz="3800" b="1" dirty="0">
                <a:solidFill>
                  <a:srgbClr val="FFFFFF"/>
                </a:solidFill>
                <a:latin typeface="Cambria" panose="02040503050406030204"/>
              </a:rPr>
              <a:t> </a:t>
            </a:r>
            <a:r>
              <a:rPr sz="3800" b="1" dirty="0" err="1">
                <a:solidFill>
                  <a:srgbClr val="FFFFFF"/>
                </a:solidFill>
                <a:latin typeface="Cambria" panose="02040503050406030204"/>
              </a:rPr>
              <a:t>доходности</a:t>
            </a:r>
            <a:r>
              <a:rPr sz="3800" b="1" dirty="0">
                <a:solidFill>
                  <a:srgbClr val="FFFFFF"/>
                </a:solidFill>
                <a:latin typeface="Cambria" panose="02040503050406030204"/>
              </a:rPr>
              <a:t> ОФЗ</a:t>
            </a:r>
            <a:endParaRPr sz="3800" b="1" dirty="0">
              <a:solidFill>
                <a:srgbClr val="FFFFFF"/>
              </a:solidFill>
              <a:latin typeface="Cambria" panose="02040503050406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3017520"/>
            <a:ext cx="8046720" cy="3847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lang="ru-RU" sz="2500" b="1" dirty="0">
                <a:solidFill>
                  <a:srgbClr val="E0A030"/>
                </a:solidFill>
                <a:latin typeface="Cambria" panose="02040503050406030204"/>
              </a:rPr>
              <a:t>Команда</a:t>
            </a:r>
            <a:r>
              <a:rPr lang="en-US" sz="2500" b="1" dirty="0">
                <a:solidFill>
                  <a:srgbClr val="E0A030"/>
                </a:solidFill>
                <a:latin typeface="Cambria" panose="02040503050406030204"/>
              </a:rPr>
              <a:t> - </a:t>
            </a:r>
            <a:r>
              <a:rPr lang="en-US" sz="2500" b="1" dirty="0" err="1">
                <a:solidFill>
                  <a:srgbClr val="E0A030"/>
                </a:solidFill>
                <a:latin typeface="Cambria" panose="02040503050406030204"/>
              </a:rPr>
              <a:t>newera</a:t>
            </a:r>
            <a:endParaRPr sz="2500" b="1" dirty="0">
              <a:solidFill>
                <a:srgbClr val="E0A030"/>
              </a:solidFill>
              <a:latin typeface="Cambria" panose="02040503050406030204"/>
            </a:endParaRPr>
          </a:p>
        </p:txBody>
      </p:sp>
      <p:sp>
        <p:nvSpPr>
          <p:cNvPr id="4" name="Декоративная кривая"/>
          <p:cNvSpPr/>
          <p:nvPr/>
        </p:nvSpPr>
        <p:spPr>
          <a:xfrm>
            <a:off x="5486400" y="548640"/>
            <a:ext cx="3108960" cy="640079"/>
          </a:xfrm>
          <a:custGeom>
            <a:avLst/>
            <a:gdLst/>
            <a:ahLst/>
            <a:cxnLst/>
            <a:rect l="l" t="t" r="r" b="b"/>
            <a:pathLst>
              <a:path w="3108960" h="640079">
                <a:moveTo>
                  <a:pt x="0" y="590376"/>
                </a:moveTo>
                <a:lnTo>
                  <a:pt x="172720" y="590376"/>
                </a:lnTo>
                <a:lnTo>
                  <a:pt x="345440" y="590376"/>
                </a:lnTo>
                <a:lnTo>
                  <a:pt x="518160" y="619471"/>
                </a:lnTo>
                <a:lnTo>
                  <a:pt x="690880" y="640079"/>
                </a:lnTo>
                <a:lnTo>
                  <a:pt x="863600" y="606136"/>
                </a:lnTo>
                <a:lnTo>
                  <a:pt x="1036320" y="523095"/>
                </a:lnTo>
                <a:lnTo>
                  <a:pt x="1209040" y="407929"/>
                </a:lnTo>
                <a:lnTo>
                  <a:pt x="1381760" y="292157"/>
                </a:lnTo>
                <a:lnTo>
                  <a:pt x="1554480" y="212147"/>
                </a:lnTo>
                <a:lnTo>
                  <a:pt x="1727200" y="168505"/>
                </a:lnTo>
                <a:lnTo>
                  <a:pt x="1899920" y="137592"/>
                </a:lnTo>
                <a:lnTo>
                  <a:pt x="2072639" y="119408"/>
                </a:lnTo>
                <a:lnTo>
                  <a:pt x="2245360" y="105467"/>
                </a:lnTo>
                <a:lnTo>
                  <a:pt x="2418079" y="95769"/>
                </a:lnTo>
                <a:lnTo>
                  <a:pt x="2590800" y="86071"/>
                </a:lnTo>
                <a:lnTo>
                  <a:pt x="2763520" y="63038"/>
                </a:lnTo>
                <a:lnTo>
                  <a:pt x="2936240" y="31519"/>
                </a:lnTo>
                <a:lnTo>
                  <a:pt x="3108960" y="0"/>
                </a:lnTo>
              </a:path>
            </a:pathLst>
          </a:custGeom>
          <a:noFill/>
          <a:ln w="38100">
            <a:solidFill>
              <a:srgbClr val="E0A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/>
        </p:nvSpPr>
        <p:spPr>
          <a:xfrm>
            <a:off x="457200" y="424636"/>
            <a:ext cx="822960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lang="ru-RU" sz="2800" b="1" dirty="0">
                <a:solidFill>
                  <a:srgbClr val="0F3D3E"/>
                </a:solidFill>
                <a:latin typeface="Cambria" panose="02040503050406030204"/>
              </a:rPr>
              <a:t>Команда и роли</a:t>
            </a:r>
            <a:endParaRPr sz="2800" b="1" dirty="0">
              <a:solidFill>
                <a:srgbClr val="0F3D3E"/>
              </a:solidFill>
              <a:latin typeface="Cambria" panose="02040503050406030204"/>
            </a:endParaRPr>
          </a:p>
        </p:txBody>
      </p:sp>
      <p:sp>
        <p:nvSpPr>
          <p:cNvPr id="3" name="Участник 1"/>
          <p:cNvSpPr/>
          <p:nvPr/>
        </p:nvSpPr>
        <p:spPr>
          <a:xfrm>
            <a:off x="457200" y="1234440"/>
            <a:ext cx="1920240" cy="320040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05840" y="1508760"/>
            <a:ext cx="822960" cy="822960"/>
          </a:xfrm>
          <a:prstGeom prst="ellipse">
            <a:avLst/>
          </a:prstGeom>
          <a:solidFill>
            <a:srgbClr val="0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mbria" panose="02040503050406030204"/>
              </a:rPr>
              <a:t>АД</a:t>
            </a:r>
            <a:endParaRPr sz="2200" b="1">
              <a:solidFill>
                <a:srgbClr val="FFFFFF"/>
              </a:solidFill>
              <a:latin typeface="Cambria" panose="02040503050406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2560320"/>
            <a:ext cx="16459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0F3D3E"/>
                </a:solidFill>
                <a:latin typeface="Cambria" panose="02040503050406030204"/>
              </a:rPr>
              <a:t>Алексеев Даниил</a:t>
            </a:r>
            <a:endParaRPr sz="1700" b="1">
              <a:solidFill>
                <a:srgbClr val="0F3D3E"/>
              </a:solidFill>
              <a:latin typeface="Cambria" panose="0204050305040603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3246120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F6B6B"/>
                </a:solidFill>
                <a:latin typeface="Calibri" panose="020F0502020204030204"/>
              </a:rPr>
              <a:t>Тимлид</a:t>
            </a:r>
            <a:endParaRPr sz="1400" b="1">
              <a:solidFill>
                <a:srgbClr val="0F6B6B"/>
              </a:solidFill>
              <a:latin typeface="Calibri" panose="020F050202020403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94360" y="3611880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5E6F70"/>
                </a:solidFill>
                <a:latin typeface="Calibri" panose="020F0502020204030204"/>
              </a:rPr>
              <a:t>Планирование, методика, презентация</a:t>
            </a:r>
            <a:endParaRPr sz="1300" b="0">
              <a:solidFill>
                <a:srgbClr val="5E6F70"/>
              </a:solidFill>
              <a:latin typeface="Calibri" panose="020F0502020204030204"/>
            </a:endParaRPr>
          </a:p>
        </p:txBody>
      </p:sp>
      <p:sp>
        <p:nvSpPr>
          <p:cNvPr id="8" name="Участник 2"/>
          <p:cNvSpPr/>
          <p:nvPr/>
        </p:nvSpPr>
        <p:spPr>
          <a:xfrm>
            <a:off x="2560320" y="1234440"/>
            <a:ext cx="1920240" cy="320040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108960" y="1508760"/>
            <a:ext cx="822960" cy="822960"/>
          </a:xfrm>
          <a:prstGeom prst="ellipse">
            <a:avLst/>
          </a:prstGeom>
          <a:solidFill>
            <a:srgbClr val="0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mbria" panose="02040503050406030204"/>
              </a:rPr>
              <a:t>СМ</a:t>
            </a:r>
            <a:endParaRPr sz="2200" b="1">
              <a:solidFill>
                <a:srgbClr val="FFFFFF"/>
              </a:solidFill>
              <a:latin typeface="Cambria" panose="0204050305040603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697479" y="2560320"/>
            <a:ext cx="16459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0F3D3E"/>
                </a:solidFill>
                <a:latin typeface="Cambria" panose="02040503050406030204"/>
              </a:rPr>
              <a:t>Слепцов Михаил</a:t>
            </a:r>
            <a:endParaRPr sz="1700" b="1">
              <a:solidFill>
                <a:srgbClr val="0F3D3E"/>
              </a:solidFill>
              <a:latin typeface="Cambria" panose="0204050305040603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697479" y="3246120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F6B6B"/>
                </a:solidFill>
                <a:latin typeface="Calibri" panose="020F0502020204030204"/>
              </a:rPr>
              <a:t>DevOps / бэкенд</a:t>
            </a:r>
            <a:endParaRPr sz="1400" b="1">
              <a:solidFill>
                <a:srgbClr val="0F6B6B"/>
              </a:solidFill>
              <a:latin typeface="Calibri" panose="020F050202020403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697479" y="3611880"/>
            <a:ext cx="16459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dirty="0" err="1">
                <a:solidFill>
                  <a:srgbClr val="5E6F70"/>
                </a:solidFill>
                <a:latin typeface="Calibri" panose="020F0502020204030204"/>
              </a:rPr>
              <a:t>Данные</a:t>
            </a:r>
            <a:r>
              <a:rPr sz="1300" b="0" dirty="0">
                <a:solidFill>
                  <a:srgbClr val="5E6F70"/>
                </a:solidFill>
                <a:latin typeface="Calibri" panose="020F0502020204030204"/>
              </a:rPr>
              <a:t> MOEX, </a:t>
            </a:r>
            <a:r>
              <a:rPr sz="1300" b="0" dirty="0" err="1">
                <a:solidFill>
                  <a:srgbClr val="5E6F70"/>
                </a:solidFill>
                <a:latin typeface="Calibri" panose="020F0502020204030204"/>
              </a:rPr>
              <a:t>репозиторий</a:t>
            </a:r>
            <a:r>
              <a:rPr lang="ru-RU" sz="1300" b="0" dirty="0">
                <a:solidFill>
                  <a:srgbClr val="5E6F70"/>
                </a:solidFill>
                <a:latin typeface="Calibri" panose="020F0502020204030204"/>
              </a:rPr>
              <a:t>, скрипты</a:t>
            </a:r>
            <a:endParaRPr sz="1300" b="0" dirty="0">
              <a:solidFill>
                <a:srgbClr val="5E6F70"/>
              </a:solidFill>
              <a:latin typeface="Calibri" panose="020F0502020204030204"/>
            </a:endParaRPr>
          </a:p>
        </p:txBody>
      </p:sp>
      <p:sp>
        <p:nvSpPr>
          <p:cNvPr id="13" name="Участник 3"/>
          <p:cNvSpPr/>
          <p:nvPr/>
        </p:nvSpPr>
        <p:spPr>
          <a:xfrm>
            <a:off x="4663440" y="1234440"/>
            <a:ext cx="1920240" cy="320040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212079" y="1508760"/>
            <a:ext cx="822960" cy="822960"/>
          </a:xfrm>
          <a:prstGeom prst="ellipse">
            <a:avLst/>
          </a:prstGeom>
          <a:solidFill>
            <a:srgbClr val="0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mbria" panose="02040503050406030204"/>
              </a:rPr>
              <a:t>АЯ</a:t>
            </a:r>
            <a:endParaRPr sz="2200" b="1">
              <a:solidFill>
                <a:srgbClr val="FFFFFF"/>
              </a:solidFill>
              <a:latin typeface="Cambria" panose="0204050305040603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800600" y="2560320"/>
            <a:ext cx="16459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0F3D3E"/>
                </a:solidFill>
                <a:latin typeface="Cambria" panose="02040503050406030204"/>
              </a:rPr>
              <a:t>Абашкин Ярослав</a:t>
            </a:r>
            <a:endParaRPr sz="1700" b="1">
              <a:solidFill>
                <a:srgbClr val="0F3D3E"/>
              </a:solidFill>
              <a:latin typeface="Cambria" panose="0204050305040603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800600" y="3246120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F6B6B"/>
                </a:solidFill>
                <a:latin typeface="Calibri" panose="020F0502020204030204"/>
              </a:rPr>
              <a:t>Бэкенд</a:t>
            </a:r>
            <a:endParaRPr sz="1400" b="1">
              <a:solidFill>
                <a:srgbClr val="0F6B6B"/>
              </a:solidFill>
              <a:latin typeface="Calibri" panose="020F050202020403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800600" y="3611880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5E6F70"/>
                </a:solidFill>
                <a:latin typeface="Calibri" panose="020F0502020204030204"/>
              </a:rPr>
              <a:t>Расчёт сценариев в Excel</a:t>
            </a:r>
            <a:endParaRPr sz="1300" b="0">
              <a:solidFill>
                <a:srgbClr val="5E6F70"/>
              </a:solidFill>
              <a:latin typeface="Calibri" panose="020F0502020204030204"/>
            </a:endParaRPr>
          </a:p>
        </p:txBody>
      </p:sp>
      <p:sp>
        <p:nvSpPr>
          <p:cNvPr id="18" name="Участник 4"/>
          <p:cNvSpPr/>
          <p:nvPr/>
        </p:nvSpPr>
        <p:spPr>
          <a:xfrm>
            <a:off x="6766559" y="1234440"/>
            <a:ext cx="1920240" cy="320040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315199" y="1508760"/>
            <a:ext cx="822960" cy="822960"/>
          </a:xfrm>
          <a:prstGeom prst="ellipse">
            <a:avLst/>
          </a:prstGeom>
          <a:solidFill>
            <a:srgbClr val="0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mbria" panose="02040503050406030204"/>
              </a:rPr>
              <a:t>ЧА</a:t>
            </a:r>
            <a:endParaRPr sz="2200" b="1">
              <a:solidFill>
                <a:srgbClr val="FFFFFF"/>
              </a:solidFill>
              <a:latin typeface="Cambria" panose="02040503050406030204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903720" y="2560320"/>
            <a:ext cx="16459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0F3D3E"/>
                </a:solidFill>
                <a:latin typeface="Cambria" panose="02040503050406030204"/>
              </a:rPr>
              <a:t>Чудаев Александр</a:t>
            </a:r>
            <a:endParaRPr sz="1700" b="1">
              <a:solidFill>
                <a:srgbClr val="0F3D3E"/>
              </a:solidFill>
              <a:latin typeface="Cambria" panose="0204050305040603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903720" y="3246120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F6B6B"/>
                </a:solidFill>
                <a:latin typeface="Calibri" panose="020F0502020204030204"/>
              </a:rPr>
              <a:t>Фронтенд</a:t>
            </a:r>
            <a:endParaRPr sz="1400" b="1">
              <a:solidFill>
                <a:srgbClr val="0F6B6B"/>
              </a:solidFill>
              <a:latin typeface="Calibri" panose="020F050202020403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903720" y="3611880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5E6F70"/>
                </a:solidFill>
                <a:latin typeface="Calibri" panose="020F0502020204030204"/>
              </a:rPr>
              <a:t>Графики и визуализация</a:t>
            </a:r>
            <a:endParaRPr sz="1300" b="0">
              <a:solidFill>
                <a:srgbClr val="5E6F70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/>
        </p:nvSpPr>
        <p:spPr>
          <a:xfrm>
            <a:off x="457200" y="424636"/>
            <a:ext cx="822960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0"/>
              </a:spcAft>
            </a:pPr>
            <a:r>
              <a:rPr sz="2800" b="1" dirty="0" err="1">
                <a:solidFill>
                  <a:srgbClr val="0F3D3E"/>
                </a:solidFill>
                <a:latin typeface="Cambria" panose="02040503050406030204"/>
              </a:rPr>
              <a:t>Как строится стресс-кривая</a:t>
            </a:r>
            <a:endParaRPr sz="2800" b="1" dirty="0">
              <a:solidFill>
                <a:srgbClr val="0F3D3E"/>
              </a:solidFill>
              <a:latin typeface="Cambria" panose="02040503050406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2B2D"/>
                </a:solidFill>
                <a:latin typeface="Calibri" panose="020F0502020204030204"/>
              </a:rPr>
              <a:t>Строим кривую доходности ОФЗ и шесть её стрессовых вариантов </a:t>
            </a:r>
            <a:r>
              <a:rPr sz="1600" b="0">
                <a:solidFill>
                  <a:srgbClr val="1A2B2D"/>
                </a:solidFill>
                <a:latin typeface="Calibri" panose="020F0502020204030204"/>
              </a:rPr>
              <a:t>по методике Банка России (8-МР). По этим кривым банк оценивает, сколько он потеряет, если ставки резко изменятся.</a:t>
            </a:r>
            <a:endParaRPr sz="1600" b="0">
              <a:solidFill>
                <a:srgbClr val="1A2B2D"/>
              </a:solidFill>
              <a:latin typeface="Calibri" panose="020F0502020204030204"/>
            </a:endParaRPr>
          </a:p>
        </p:txBody>
      </p:sp>
      <p:sp>
        <p:nvSpPr>
          <p:cNvPr id="4" name="Шаг 1"/>
          <p:cNvSpPr/>
          <p:nvPr/>
        </p:nvSpPr>
        <p:spPr>
          <a:xfrm>
            <a:off x="457200" y="2103120"/>
            <a:ext cx="2560320" cy="160020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2240280"/>
            <a:ext cx="457200" cy="457200"/>
          </a:xfrm>
          <a:prstGeom prst="ellipse">
            <a:avLst/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0F3D3E"/>
                </a:solidFill>
                <a:latin typeface="Cambria" panose="02040503050406030204"/>
              </a:rPr>
              <a:t>1</a:t>
            </a:r>
            <a:endParaRPr sz="1400" b="1">
              <a:solidFill>
                <a:srgbClr val="0F3D3E"/>
              </a:solidFill>
              <a:latin typeface="Cambria" panose="0204050305040603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234440" y="2267712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3D3E"/>
                </a:solidFill>
                <a:latin typeface="Cambria" panose="02040503050406030204"/>
              </a:rPr>
              <a:t>Данные MOEX</a:t>
            </a:r>
            <a:endParaRPr sz="1800" b="1">
              <a:solidFill>
                <a:srgbClr val="0F3D3E"/>
              </a:solidFill>
              <a:latin typeface="Cambria" panose="0204050305040603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22402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2B2D"/>
                </a:solidFill>
                <a:latin typeface="Calibri" panose="020F0502020204030204"/>
              </a:rPr>
              <a:t>Кривая ОФЗ на 31.07.2026: 12 точек, от 3 месяцев до 30 лет</a:t>
            </a:r>
            <a:endParaRPr sz="1400" b="0">
              <a:solidFill>
                <a:srgbClr val="1A2B2D"/>
              </a:solidFill>
              <a:latin typeface="Calibri" panose="020F050202020403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017520" y="2651760"/>
            <a:ext cx="2743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E0A030"/>
                </a:solidFill>
                <a:latin typeface="Calibri" panose="020F0502020204030204"/>
              </a:rPr>
              <a:t>›</a:t>
            </a:r>
            <a:endParaRPr sz="2800" b="1">
              <a:solidFill>
                <a:srgbClr val="E0A030"/>
              </a:solidFill>
              <a:latin typeface="Calibri" panose="020F0502020204030204"/>
            </a:endParaRPr>
          </a:p>
        </p:txBody>
      </p:sp>
      <p:sp>
        <p:nvSpPr>
          <p:cNvPr id="9" name="Шаг 2"/>
          <p:cNvSpPr/>
          <p:nvPr/>
        </p:nvSpPr>
        <p:spPr>
          <a:xfrm>
            <a:off x="3291840" y="2103120"/>
            <a:ext cx="2560320" cy="160020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74720" y="2240280"/>
            <a:ext cx="457200" cy="457200"/>
          </a:xfrm>
          <a:prstGeom prst="ellipse">
            <a:avLst/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0F3D3E"/>
                </a:solidFill>
                <a:latin typeface="Cambria" panose="02040503050406030204"/>
              </a:rPr>
              <a:t>2</a:t>
            </a:r>
            <a:endParaRPr sz="1400" b="1">
              <a:solidFill>
                <a:srgbClr val="0F3D3E"/>
              </a:solidFill>
              <a:latin typeface="Cambria" panose="0204050305040603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069080" y="2267712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3D3E"/>
                </a:solidFill>
                <a:latin typeface="Cambria" panose="02040503050406030204"/>
              </a:rPr>
              <a:t>Сетка ЦБ</a:t>
            </a:r>
            <a:endParaRPr sz="1800" b="1">
              <a:solidFill>
                <a:srgbClr val="0F3D3E"/>
              </a:solidFill>
              <a:latin typeface="Cambria" panose="0204050305040603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474720" y="2834640"/>
            <a:ext cx="22402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2B2D"/>
                </a:solidFill>
                <a:latin typeface="Calibri" panose="020F0502020204030204"/>
              </a:rPr>
              <a:t>19 сроков: 3 самых коротких по ближайшему значению, 16 интерполяцией</a:t>
            </a:r>
            <a:endParaRPr sz="1400" b="0">
              <a:solidFill>
                <a:srgbClr val="1A2B2D"/>
              </a:solidFill>
              <a:latin typeface="Calibri" panose="020F0502020204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852160" y="2651760"/>
            <a:ext cx="2743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E0A030"/>
                </a:solidFill>
                <a:latin typeface="Calibri" panose="020F0502020204030204"/>
              </a:rPr>
              <a:t>›</a:t>
            </a:r>
            <a:endParaRPr sz="2800" b="1">
              <a:solidFill>
                <a:srgbClr val="E0A030"/>
              </a:solidFill>
              <a:latin typeface="Calibri" panose="020F0502020204030204"/>
            </a:endParaRPr>
          </a:p>
        </p:txBody>
      </p:sp>
      <p:sp>
        <p:nvSpPr>
          <p:cNvPr id="14" name="Шаг 3"/>
          <p:cNvSpPr/>
          <p:nvPr/>
        </p:nvSpPr>
        <p:spPr>
          <a:xfrm>
            <a:off x="6126480" y="2103120"/>
            <a:ext cx="2560320" cy="1600200"/>
          </a:xfrm>
          <a:prstGeom prst="roundRect">
            <a:avLst>
              <a:gd name="adj" fmla="val 6000"/>
            </a:avLst>
          </a:prstGeom>
          <a:solidFill>
            <a:srgbClr val="0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9360" y="2240280"/>
            <a:ext cx="457200" cy="457200"/>
          </a:xfrm>
          <a:prstGeom prst="ellipse">
            <a:avLst/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0F3D3E"/>
                </a:solidFill>
                <a:latin typeface="Cambria" panose="02040503050406030204"/>
              </a:rPr>
              <a:t>3</a:t>
            </a:r>
            <a:endParaRPr sz="1400" b="1">
              <a:solidFill>
                <a:srgbClr val="0F3D3E"/>
              </a:solidFill>
              <a:latin typeface="Cambria" panose="0204050305040603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903720" y="2267712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mbria" panose="02040503050406030204"/>
              </a:rPr>
              <a:t>6 сценариев</a:t>
            </a:r>
            <a:endParaRPr sz="1800" b="1">
              <a:solidFill>
                <a:srgbClr val="FFFFFF"/>
              </a:solidFill>
              <a:latin typeface="Cambria" panose="0204050305040603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309360" y="2834640"/>
            <a:ext cx="22402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 panose="020F0502020204030204"/>
              </a:rPr>
              <a:t>Сдвиги всей кривой, изменение наклона и коротких ставок</a:t>
            </a:r>
            <a:endParaRPr sz="14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E6F70"/>
                </a:solidFill>
                <a:latin typeface="Calibri" panose="020F0502020204030204"/>
              </a:rPr>
              <a:t>Наши кривые дальше используют команды 1 и 3: по ним считается, как меняется стоимость портфеля банка.</a:t>
            </a:r>
            <a:endParaRPr sz="1400" b="0">
              <a:solidFill>
                <a:srgbClr val="5E6F70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F3D3E"/>
                </a:solidFill>
                <a:latin typeface="Cambria" panose="02040503050406030204"/>
              </a:rPr>
              <a:t>Шесть сценариев по 8-МР (рубль)</a:t>
            </a:r>
            <a:endParaRPr sz="2800" b="1">
              <a:solidFill>
                <a:srgbClr val="0F3D3E"/>
              </a:solidFill>
              <a:latin typeface="Cambria" panose="02040503050406030204"/>
            </a:endParaRPr>
          </a:p>
        </p:txBody>
      </p:sp>
      <p:graphicFrame>
        <p:nvGraphicFramePr>
          <p:cNvPr id="3" name="Таблица сценариев"/>
          <p:cNvGraphicFramePr>
            <a:graphicFrameLocks noGrp="1"/>
          </p:cNvGraphicFramePr>
          <p:nvPr/>
        </p:nvGraphicFramePr>
        <p:xfrm>
          <a:off x="457200" y="1143000"/>
          <a:ext cx="8229600" cy="2624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743200"/>
                <a:gridCol w="4937760"/>
              </a:tblGrid>
              <a:tr h="37490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№</a:t>
                      </a:r>
                      <a:endParaRPr sz="1400" b="1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anchor="ctr"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Сценарий</a:t>
                      </a:r>
                      <a:endParaRPr sz="1400" b="1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anchor="ctr"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Расчётная ставка</a:t>
                      </a:r>
                      <a:endParaRPr sz="1400" b="1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anchor="ctr">
                    <a:solidFill>
                      <a:srgbClr val="0F3D3E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2B2D"/>
                          </a:solidFill>
                          <a:latin typeface="Calibri" panose="020F0502020204030204"/>
                        </a:rPr>
                        <a:t>1</a:t>
                      </a:r>
                      <a:endParaRPr sz="1400" b="0">
                        <a:solidFill>
                          <a:srgbClr val="1A2B2D"/>
                        </a:solidFill>
                        <a:latin typeface="Calibri" panose="020F0502020204030204"/>
                      </a:endParaRPr>
                    </a:p>
                  </a:txBody>
                  <a:tcPr marL="109728" marR="109728" anchor="ctr">
                    <a:solidFill>
                      <a:srgbClr val="EEF3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2B2D"/>
                          </a:solidFill>
                          <a:latin typeface="Calibri" panose="020F0502020204030204"/>
                        </a:rPr>
                        <a:t>Параллельно вверх</a:t>
                      </a:r>
                      <a:endParaRPr sz="1400" b="1">
                        <a:solidFill>
                          <a:srgbClr val="1A2B2D"/>
                        </a:solidFill>
                        <a:latin typeface="Calibri" panose="020F0502020204030204"/>
                      </a:endParaRPr>
                    </a:p>
                  </a:txBody>
                  <a:tcPr marL="109728" marR="109728" anchor="ctr">
                    <a:solidFill>
                      <a:srgbClr val="EEF3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2B2D"/>
                          </a:solidFill>
                          <a:latin typeface="Calibri" panose="020F0502020204030204"/>
                        </a:rPr>
                        <a:t>БС + 4</a:t>
                      </a:r>
                      <a:endParaRPr sz="1400" b="0">
                        <a:solidFill>
                          <a:srgbClr val="1A2B2D"/>
                        </a:solidFill>
                        <a:latin typeface="Calibri" panose="020F0502020204030204"/>
                      </a:endParaRPr>
                    </a:p>
                  </a:txBody>
                  <a:tcPr marL="109728" marR="109728" anchor="ctr">
                    <a:solidFill>
                      <a:srgbClr val="EEF3F1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2B2D"/>
                          </a:solidFill>
                          <a:latin typeface="Calibri" panose="020F0502020204030204"/>
                        </a:rPr>
                        <a:t>2</a:t>
                      </a:r>
                      <a:endParaRPr sz="1400" b="0">
                        <a:solidFill>
                          <a:srgbClr val="1A2B2D"/>
                        </a:solidFill>
                        <a:latin typeface="Calibri" panose="020F0502020204030204"/>
                      </a:endParaRP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2B2D"/>
                          </a:solidFill>
                          <a:latin typeface="Calibri" panose="020F0502020204030204"/>
                        </a:rPr>
                        <a:t>Параллельно вниз</a:t>
                      </a:r>
                      <a:endParaRPr sz="1400" b="1">
                        <a:solidFill>
                          <a:srgbClr val="1A2B2D"/>
                        </a:solidFill>
                        <a:latin typeface="Calibri" panose="020F0502020204030204"/>
                      </a:endParaRP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2B2D"/>
                          </a:solidFill>
                          <a:latin typeface="Calibri" panose="020F0502020204030204"/>
                        </a:rPr>
                        <a:t>БС − 4</a:t>
                      </a:r>
                      <a:endParaRPr sz="1400" b="0">
                        <a:solidFill>
                          <a:srgbClr val="1A2B2D"/>
                        </a:solidFill>
                        <a:latin typeface="Calibri" panose="020F0502020204030204"/>
                      </a:endParaRP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2B2D"/>
                          </a:solidFill>
                          <a:latin typeface="Calibri" panose="020F0502020204030204"/>
                        </a:rPr>
                        <a:t>3</a:t>
                      </a:r>
                      <a:endParaRPr sz="1400" b="0">
                        <a:solidFill>
                          <a:srgbClr val="1A2B2D"/>
                        </a:solidFill>
                        <a:latin typeface="Calibri" panose="020F0502020204030204"/>
                      </a:endParaRPr>
                    </a:p>
                  </a:txBody>
                  <a:tcPr marL="109728" marR="109728" anchor="ctr">
                    <a:solidFill>
                      <a:srgbClr val="EEF3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2B2D"/>
                          </a:solidFill>
                          <a:latin typeface="Calibri" panose="020F0502020204030204"/>
                        </a:rPr>
                        <a:t>Увеличение наклона</a:t>
                      </a:r>
                      <a:endParaRPr sz="1400" b="1">
                        <a:solidFill>
                          <a:srgbClr val="1A2B2D"/>
                        </a:solidFill>
                        <a:latin typeface="Calibri" panose="020F0502020204030204"/>
                      </a:endParaRPr>
                    </a:p>
                  </a:txBody>
                  <a:tcPr marL="109728" marR="109728" anchor="ctr">
                    <a:solidFill>
                      <a:srgbClr val="EEF3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2B2D"/>
                          </a:solidFill>
                          <a:latin typeface="Calibri" panose="020F0502020204030204"/>
                        </a:rPr>
                        <a:t>БС − 0,65·5·e^(−T/4) + 0,9·3·(1 − e^(−T/4))</a:t>
                      </a:r>
                      <a:endParaRPr sz="1400" b="0">
                        <a:solidFill>
                          <a:srgbClr val="1A2B2D"/>
                        </a:solidFill>
                        <a:latin typeface="Calibri" panose="020F0502020204030204"/>
                      </a:endParaRPr>
                    </a:p>
                  </a:txBody>
                  <a:tcPr marL="109728" marR="109728" anchor="ctr">
                    <a:solidFill>
                      <a:srgbClr val="EEF3F1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2B2D"/>
                          </a:solidFill>
                          <a:latin typeface="Calibri" panose="020F0502020204030204"/>
                        </a:rPr>
                        <a:t>4</a:t>
                      </a:r>
                      <a:endParaRPr sz="1400" b="0">
                        <a:solidFill>
                          <a:srgbClr val="1A2B2D"/>
                        </a:solidFill>
                        <a:latin typeface="Calibri" panose="020F0502020204030204"/>
                      </a:endParaRP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2B2D"/>
                          </a:solidFill>
                          <a:latin typeface="Calibri" panose="020F0502020204030204"/>
                        </a:rPr>
                        <a:t>Уменьшение наклона</a:t>
                      </a:r>
                      <a:endParaRPr sz="1400" b="1">
                        <a:solidFill>
                          <a:srgbClr val="1A2B2D"/>
                        </a:solidFill>
                        <a:latin typeface="Calibri" panose="020F0502020204030204"/>
                      </a:endParaRP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2B2D"/>
                          </a:solidFill>
                          <a:latin typeface="Calibri" panose="020F0502020204030204"/>
                        </a:rPr>
                        <a:t>БС + 0,8·5·e^(−T/4) − 0,6·3·(1 − e^(−T/4))</a:t>
                      </a:r>
                      <a:endParaRPr sz="1400" b="0">
                        <a:solidFill>
                          <a:srgbClr val="1A2B2D"/>
                        </a:solidFill>
                        <a:latin typeface="Calibri" panose="020F0502020204030204"/>
                      </a:endParaRP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2B2D"/>
                          </a:solidFill>
                          <a:latin typeface="Calibri" panose="020F0502020204030204"/>
                        </a:rPr>
                        <a:t>5</a:t>
                      </a:r>
                      <a:endParaRPr sz="1400" b="0">
                        <a:solidFill>
                          <a:srgbClr val="1A2B2D"/>
                        </a:solidFill>
                        <a:latin typeface="Calibri" panose="020F0502020204030204"/>
                      </a:endParaRPr>
                    </a:p>
                  </a:txBody>
                  <a:tcPr marL="109728" marR="109728" anchor="ctr">
                    <a:solidFill>
                      <a:srgbClr val="EEF3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2B2D"/>
                          </a:solidFill>
                          <a:latin typeface="Calibri" panose="020F0502020204030204"/>
                        </a:rPr>
                        <a:t>Рост коротких ставок</a:t>
                      </a:r>
                      <a:endParaRPr sz="1400" b="1">
                        <a:solidFill>
                          <a:srgbClr val="1A2B2D"/>
                        </a:solidFill>
                        <a:latin typeface="Calibri" panose="020F0502020204030204"/>
                      </a:endParaRPr>
                    </a:p>
                  </a:txBody>
                  <a:tcPr marL="109728" marR="109728" anchor="ctr">
                    <a:solidFill>
                      <a:srgbClr val="EEF3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2B2D"/>
                          </a:solidFill>
                          <a:latin typeface="Calibri" panose="020F0502020204030204"/>
                        </a:rPr>
                        <a:t>БС + 5·e^(−T/4)</a:t>
                      </a:r>
                      <a:endParaRPr sz="1400" b="0">
                        <a:solidFill>
                          <a:srgbClr val="1A2B2D"/>
                        </a:solidFill>
                        <a:latin typeface="Calibri" panose="020F0502020204030204"/>
                      </a:endParaRPr>
                    </a:p>
                  </a:txBody>
                  <a:tcPr marL="109728" marR="109728" anchor="ctr">
                    <a:solidFill>
                      <a:srgbClr val="EEF3F1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2B2D"/>
                          </a:solidFill>
                          <a:latin typeface="Calibri" panose="020F0502020204030204"/>
                        </a:rPr>
                        <a:t>6</a:t>
                      </a:r>
                      <a:endParaRPr sz="1400" b="0">
                        <a:solidFill>
                          <a:srgbClr val="1A2B2D"/>
                        </a:solidFill>
                        <a:latin typeface="Calibri" panose="020F0502020204030204"/>
                      </a:endParaRP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2B2D"/>
                          </a:solidFill>
                          <a:latin typeface="Calibri" panose="020F0502020204030204"/>
                        </a:rPr>
                        <a:t>Снижение коротких ставок</a:t>
                      </a:r>
                      <a:endParaRPr sz="1400" b="1">
                        <a:solidFill>
                          <a:srgbClr val="1A2B2D"/>
                        </a:solidFill>
                        <a:latin typeface="Calibri" panose="020F0502020204030204"/>
                      </a:endParaRP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2B2D"/>
                          </a:solidFill>
                          <a:latin typeface="Calibri" panose="020F0502020204030204"/>
                        </a:rPr>
                        <a:t>БС − 5·e^(−T/4)</a:t>
                      </a:r>
                      <a:endParaRPr sz="1400" b="0">
                        <a:solidFill>
                          <a:srgbClr val="1A2B2D"/>
                        </a:solidFill>
                        <a:latin typeface="Calibri" panose="020F0502020204030204"/>
                      </a:endParaRP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977639"/>
            <a:ext cx="8229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2B2D"/>
                </a:solidFill>
                <a:latin typeface="Calibri" panose="020F0502020204030204"/>
              </a:rPr>
              <a:t>БС</a:t>
            </a:r>
            <a:r>
              <a:rPr sz="1400" b="0">
                <a:solidFill>
                  <a:srgbClr val="1A2B2D"/>
                </a:solidFill>
                <a:latin typeface="Calibri" panose="020F0502020204030204"/>
              </a:rPr>
              <a:t> — базовая ставка, %;  </a:t>
            </a:r>
            <a:r>
              <a:rPr sz="1400" b="1">
                <a:solidFill>
                  <a:srgbClr val="1A2B2D"/>
                </a:solidFill>
                <a:latin typeface="Calibri" panose="020F0502020204030204"/>
              </a:rPr>
              <a:t>T</a:t>
            </a:r>
            <a:r>
              <a:rPr sz="1400" b="0">
                <a:solidFill>
                  <a:srgbClr val="1A2B2D"/>
                </a:solidFill>
                <a:latin typeface="Calibri" panose="020F0502020204030204"/>
              </a:rPr>
              <a:t> — срок до середины интервала, лет.</a:t>
            </a:r>
            <a:endParaRPr sz="1400" b="0">
              <a:solidFill>
                <a:srgbClr val="1A2B2D"/>
              </a:solidFill>
              <a:latin typeface="Calibri" panose="020F0502020204030204"/>
            </a:endParaRP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A2B2D"/>
                </a:solidFill>
                <a:latin typeface="Calibri" panose="020F0502020204030204"/>
              </a:rPr>
              <a:t>Параметры для рубля (таблица 3 8-МР): параллельный сдвиг 4 п.п., короткие ставки 5 п.п., длинные 3 п.п.; t = 4.</a:t>
            </a:r>
            <a:endParaRPr sz="1400" b="0">
              <a:solidFill>
                <a:srgbClr val="1A2B2D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F3D3E"/>
                </a:solidFill>
                <a:latin typeface="Cambria" panose="02040503050406030204"/>
              </a:rPr>
              <a:t>Результат: базовая кривая и шесть сценариев</a:t>
            </a:r>
            <a:endParaRPr sz="2800" b="1">
              <a:solidFill>
                <a:srgbClr val="0F3D3E"/>
              </a:solidFill>
              <a:latin typeface="Cambria" panose="02040503050406030204"/>
            </a:endParaRPr>
          </a:p>
        </p:txBody>
      </p:sp>
      <p:pic>
        <p:nvPicPr>
          <p:cNvPr id="3" name="Сводный график" descr="curve_all_scenario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183323" cy="3566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720" y="1143000"/>
            <a:ext cx="3017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0F6B6B"/>
                </a:solidFill>
                <a:latin typeface="Cambria" panose="02040503050406030204"/>
              </a:rPr>
              <a:t>±4 п.п.</a:t>
            </a:r>
            <a:endParaRPr sz="2200" b="1">
              <a:solidFill>
                <a:srgbClr val="0F6B6B"/>
              </a:solidFill>
              <a:latin typeface="Cambria" panose="02040503050406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760720" y="1572768"/>
            <a:ext cx="3017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1A2B2D"/>
                </a:solidFill>
                <a:latin typeface="Calibri" panose="020F0502020204030204"/>
              </a:rPr>
              <a:t>Параллельные сценарии поднимают или опускают всю кривую</a:t>
            </a:r>
            <a:endParaRPr sz="1300" b="0">
              <a:solidFill>
                <a:srgbClr val="1A2B2D"/>
              </a:solidFill>
              <a:latin typeface="Calibri" panose="020F050202020403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760720" y="2331720"/>
            <a:ext cx="3017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0F6B6B"/>
                </a:solidFill>
                <a:latin typeface="Cambria" panose="02040503050406030204"/>
              </a:rPr>
              <a:t>10,3 → 18,7 %</a:t>
            </a:r>
            <a:endParaRPr sz="2200" b="1">
              <a:solidFill>
                <a:srgbClr val="0F6B6B"/>
              </a:solidFill>
              <a:latin typeface="Cambria" panose="0204050305040603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760720" y="2761487"/>
            <a:ext cx="3017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1A2B2D"/>
                </a:solidFill>
                <a:latin typeface="Calibri" panose="020F0502020204030204"/>
              </a:rPr>
              <a:t>Увеличение наклона: короткие ставки падают, длинные растут</a:t>
            </a:r>
            <a:endParaRPr sz="1300" b="0">
              <a:solidFill>
                <a:srgbClr val="1A2B2D"/>
              </a:solidFill>
              <a:latin typeface="Calibri" panose="020F050202020403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760720" y="3520440"/>
            <a:ext cx="3017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0F6B6B"/>
                </a:solidFill>
                <a:latin typeface="Cambria" panose="02040503050406030204"/>
              </a:rPr>
              <a:t>18,6 %</a:t>
            </a:r>
            <a:endParaRPr sz="2200" b="1">
              <a:solidFill>
                <a:srgbClr val="0F6B6B"/>
              </a:solidFill>
              <a:latin typeface="Cambria" panose="0204050305040603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760720" y="3950208"/>
            <a:ext cx="3017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1A2B2D"/>
                </a:solidFill>
                <a:latin typeface="Calibri" panose="020F0502020204030204"/>
              </a:rPr>
              <a:t>Рост коротких: сильный шок на коротком конце, на длинном ставка почти не меняется</a:t>
            </a:r>
            <a:endParaRPr sz="1300" b="0">
              <a:solidFill>
                <a:srgbClr val="1A2B2D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F3D3E"/>
                </a:solidFill>
                <a:latin typeface="Cambria" panose="02040503050406030204"/>
              </a:rPr>
              <a:t>Задачи и репозиторий</a:t>
            </a:r>
            <a:endParaRPr sz="2800" b="1">
              <a:solidFill>
                <a:srgbClr val="0F3D3E"/>
              </a:solidFill>
              <a:latin typeface="Cambria" panose="02040503050406030204"/>
            </a:endParaRPr>
          </a:p>
        </p:txBody>
      </p:sp>
      <p:pic>
        <p:nvPicPr>
          <p:cNvPr id="3" name="Скриншот Сфера.Задачи" descr="sfera_task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7863840" cy="232376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3430188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6F70"/>
                </a:solidFill>
                <a:latin typeface="Calibri" panose="020F0502020204030204"/>
              </a:rPr>
              <a:t>Скриншот: задачи спринта 1 в Сфера.Задачи</a:t>
            </a:r>
            <a:endParaRPr sz="1100" b="0">
              <a:solidFill>
                <a:srgbClr val="5E6F70"/>
              </a:solidFill>
              <a:latin typeface="Calibri" panose="020F0502020204030204"/>
            </a:endParaRPr>
          </a:p>
        </p:txBody>
      </p:sp>
      <p:sp>
        <p:nvSpPr>
          <p:cNvPr id="5" name="Итог по задачам"/>
          <p:cNvSpPr/>
          <p:nvPr/>
        </p:nvSpPr>
        <p:spPr>
          <a:xfrm>
            <a:off x="457200" y="3771900"/>
            <a:ext cx="5577840" cy="114300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909060"/>
            <a:ext cx="52120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3D3E"/>
                </a:solidFill>
                <a:latin typeface="Cambria" panose="02040503050406030204"/>
              </a:rPr>
              <a:t>5 из 5 задач спринта закрыты</a:t>
            </a:r>
            <a:endParaRPr sz="1800" b="1">
              <a:solidFill>
                <a:srgbClr val="0F3D3E"/>
              </a:solidFill>
              <a:latin typeface="Cambria" panose="0204050305040603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4366260"/>
            <a:ext cx="5212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2B2D"/>
                </a:solidFill>
                <a:latin typeface="Calibri" panose="020F0502020204030204"/>
              </a:rPr>
              <a:t>У каждой задачи есть исполнитель, срок и оценка</a:t>
            </a:r>
            <a:endParaRPr sz="1400" b="0">
              <a:solidFill>
                <a:srgbClr val="1A2B2D"/>
              </a:solidFill>
              <a:latin typeface="Calibri" panose="020F0502020204030204"/>
            </a:endParaRPr>
          </a:p>
        </p:txBody>
      </p:sp>
      <p:pic>
        <p:nvPicPr>
          <p:cNvPr id="8" name="QR GitLab" descr="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3771900"/>
            <a:ext cx="1143000" cy="1143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72200" y="3771900"/>
            <a:ext cx="114300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>
                <a:solidFill>
                  <a:srgbClr val="0F3D3E"/>
                </a:solidFill>
                <a:latin typeface="Calibri" panose="020F0502020204030204"/>
              </a:rPr>
              <a:t>Репозиторий</a:t>
            </a:r>
            <a:endParaRPr sz="1200" b="1">
              <a:solidFill>
                <a:srgbClr val="0F3D3E"/>
              </a:solidFill>
              <a:latin typeface="Calibri" panose="020F0502020204030204"/>
            </a:endParaRPr>
          </a:p>
          <a:p>
            <a:pPr algn="r">
              <a:spcAft>
                <a:spcPts val="0"/>
              </a:spcAft>
            </a:pPr>
            <a:r>
              <a:rPr sz="1200" b="0">
                <a:solidFill>
                  <a:srgbClr val="0F3D3E"/>
                </a:solidFill>
                <a:latin typeface="Calibri" panose="020F0502020204030204"/>
              </a:rPr>
              <a:t>GitLab МАИ</a:t>
            </a:r>
            <a:endParaRPr sz="1200" b="0">
              <a:solidFill>
                <a:srgbClr val="0F3D3E"/>
              </a:solidFill>
              <a:latin typeface="Calibri" panose="020F0502020204030204"/>
            </a:endParaRPr>
          </a:p>
          <a:p>
            <a:pPr algn="r">
              <a:spcAft>
                <a:spcPts val="0"/>
              </a:spcAft>
            </a:pPr>
            <a:r>
              <a:rPr sz="1200" b="0">
                <a:solidFill>
                  <a:srgbClr val="0F3D3E"/>
                </a:solidFill>
                <a:latin typeface="Calibri" panose="020F0502020204030204"/>
              </a:rPr>
              <a:t>ветка develop</a:t>
            </a:r>
            <a:endParaRPr sz="1200" b="0">
              <a:solidFill>
                <a:srgbClr val="0F3D3E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F3D3E"/>
                </a:solidFill>
                <a:latin typeface="Cambria" panose="02040503050406030204"/>
              </a:rPr>
              <a:t>Что мы сделали за спринт 1</a:t>
            </a:r>
            <a:endParaRPr sz="2800" b="1">
              <a:solidFill>
                <a:srgbClr val="0F3D3E"/>
              </a:solidFill>
              <a:latin typeface="Cambria" panose="02040503050406030204"/>
            </a:endParaRPr>
          </a:p>
        </p:txBody>
      </p:sp>
      <p:sp>
        <p:nvSpPr>
          <p:cNvPr id="3" name="Итог 1"/>
          <p:cNvSpPr/>
          <p:nvPr/>
        </p:nvSpPr>
        <p:spPr>
          <a:xfrm>
            <a:off x="457200" y="1188720"/>
            <a:ext cx="2560320" cy="150876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1371600"/>
            <a:ext cx="411480" cy="411480"/>
          </a:xfrm>
          <a:prstGeom prst="ellipse">
            <a:avLst/>
          </a:prstGeom>
          <a:solidFill>
            <a:srgbClr val="0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 panose="02040503050406030204"/>
              </a:rPr>
              <a:t>1</a:t>
            </a:r>
            <a:endParaRPr sz="1400" b="1">
              <a:solidFill>
                <a:srgbClr val="FFFFFF"/>
              </a:solidFill>
              <a:latin typeface="Cambria" panose="02040503050406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88720" y="1344168"/>
            <a:ext cx="17373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3D3E"/>
                </a:solidFill>
                <a:latin typeface="Cambria" panose="02040503050406030204"/>
              </a:rPr>
              <a:t>Разобрались с темой</a:t>
            </a:r>
            <a:endParaRPr sz="1500" b="1">
              <a:solidFill>
                <a:srgbClr val="0F3D3E"/>
              </a:solidFill>
              <a:latin typeface="Cambria" panose="0204050305040603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22402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1A2B2D"/>
                </a:solidFill>
                <a:latin typeface="Calibri" panose="020F0502020204030204"/>
              </a:rPr>
              <a:t>Процентный риск и методика Банка России 8-МР</a:t>
            </a:r>
            <a:endParaRPr sz="1300" b="0">
              <a:solidFill>
                <a:srgbClr val="1A2B2D"/>
              </a:solidFill>
              <a:latin typeface="Calibri" panose="020F0502020204030204"/>
            </a:endParaRPr>
          </a:p>
        </p:txBody>
      </p:sp>
      <p:sp>
        <p:nvSpPr>
          <p:cNvPr id="7" name="Итог 2"/>
          <p:cNvSpPr/>
          <p:nvPr/>
        </p:nvSpPr>
        <p:spPr>
          <a:xfrm>
            <a:off x="3291840" y="1188720"/>
            <a:ext cx="2560320" cy="150876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474720" y="1371600"/>
            <a:ext cx="411480" cy="411480"/>
          </a:xfrm>
          <a:prstGeom prst="ellipse">
            <a:avLst/>
          </a:prstGeom>
          <a:solidFill>
            <a:srgbClr val="0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 panose="02040503050406030204"/>
              </a:rPr>
              <a:t>2</a:t>
            </a:r>
            <a:endParaRPr sz="1400" b="1">
              <a:solidFill>
                <a:srgbClr val="FFFFFF"/>
              </a:solidFill>
              <a:latin typeface="Cambria" panose="0204050305040603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023360" y="1344168"/>
            <a:ext cx="17373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3D3E"/>
                </a:solidFill>
                <a:latin typeface="Cambria" panose="02040503050406030204"/>
              </a:rPr>
              <a:t>Выгрузили данные MOEX</a:t>
            </a:r>
            <a:endParaRPr sz="1500" b="1">
              <a:solidFill>
                <a:srgbClr val="0F3D3E"/>
              </a:solidFill>
              <a:latin typeface="Cambria" panose="0204050305040603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474720" y="1920240"/>
            <a:ext cx="22402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1A2B2D"/>
                </a:solidFill>
                <a:latin typeface="Calibri" panose="020F0502020204030204"/>
              </a:rPr>
              <a:t>Кривая ОФЗ на 31.07.2026, 12 точек до 30 лет</a:t>
            </a:r>
            <a:endParaRPr sz="1300" b="0">
              <a:solidFill>
                <a:srgbClr val="1A2B2D"/>
              </a:solidFill>
              <a:latin typeface="Calibri" panose="020F0502020204030204"/>
            </a:endParaRPr>
          </a:p>
        </p:txBody>
      </p:sp>
      <p:sp>
        <p:nvSpPr>
          <p:cNvPr id="11" name="Итог 3"/>
          <p:cNvSpPr/>
          <p:nvPr/>
        </p:nvSpPr>
        <p:spPr>
          <a:xfrm>
            <a:off x="6126480" y="1188720"/>
            <a:ext cx="2560320" cy="150876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309360" y="1371600"/>
            <a:ext cx="411480" cy="411480"/>
          </a:xfrm>
          <a:prstGeom prst="ellipse">
            <a:avLst/>
          </a:prstGeom>
          <a:solidFill>
            <a:srgbClr val="0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 panose="02040503050406030204"/>
              </a:rPr>
              <a:t>3</a:t>
            </a:r>
            <a:endParaRPr sz="1400" b="1">
              <a:solidFill>
                <a:srgbClr val="FFFFFF"/>
              </a:solidFill>
              <a:latin typeface="Cambria" panose="02040503050406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858000" y="1344168"/>
            <a:ext cx="17373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3D3E"/>
                </a:solidFill>
                <a:latin typeface="Cambria" panose="02040503050406030204"/>
              </a:rPr>
              <a:t>Привели к сетке ЦБ</a:t>
            </a:r>
            <a:endParaRPr sz="1500" b="1">
              <a:solidFill>
                <a:srgbClr val="0F3D3E"/>
              </a:solidFill>
              <a:latin typeface="Cambria" panose="02040503050406030204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309360" y="1920240"/>
            <a:ext cx="22402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1A2B2D"/>
                </a:solidFill>
                <a:latin typeface="Calibri" panose="020F0502020204030204"/>
              </a:rPr>
              <a:t>19 сроков: скрипт на Python и формулы в Excel</a:t>
            </a:r>
            <a:endParaRPr sz="1300" b="0">
              <a:solidFill>
                <a:srgbClr val="1A2B2D"/>
              </a:solidFill>
              <a:latin typeface="Calibri" panose="020F0502020204030204"/>
            </a:endParaRPr>
          </a:p>
        </p:txBody>
      </p:sp>
      <p:sp>
        <p:nvSpPr>
          <p:cNvPr id="15" name="Итог 4"/>
          <p:cNvSpPr/>
          <p:nvPr/>
        </p:nvSpPr>
        <p:spPr>
          <a:xfrm>
            <a:off x="457200" y="2926080"/>
            <a:ext cx="2560320" cy="150876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108960"/>
            <a:ext cx="411480" cy="411480"/>
          </a:xfrm>
          <a:prstGeom prst="ellipse">
            <a:avLst/>
          </a:prstGeom>
          <a:solidFill>
            <a:srgbClr val="0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 panose="02040503050406030204"/>
              </a:rPr>
              <a:t>4</a:t>
            </a:r>
            <a:endParaRPr sz="1400" b="1">
              <a:solidFill>
                <a:srgbClr val="FFFFFF"/>
              </a:solidFill>
              <a:latin typeface="Cambria" panose="0204050305040603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188720" y="3081528"/>
            <a:ext cx="17373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3D3E"/>
                </a:solidFill>
                <a:latin typeface="Cambria" panose="02040503050406030204"/>
              </a:rPr>
              <a:t>Посчитали 6 сценариев</a:t>
            </a:r>
            <a:endParaRPr sz="1500" b="1">
              <a:solidFill>
                <a:srgbClr val="0F3D3E"/>
              </a:solidFill>
              <a:latin typeface="Cambria" panose="020405030504060302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40080" y="3657600"/>
            <a:ext cx="22402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1A2B2D"/>
                </a:solidFill>
                <a:latin typeface="Calibri" panose="020F0502020204030204"/>
              </a:rPr>
              <a:t>Формулы в Excel, сверка с примером заказчика</a:t>
            </a:r>
            <a:endParaRPr sz="1300" b="0">
              <a:solidFill>
                <a:srgbClr val="1A2B2D"/>
              </a:solidFill>
              <a:latin typeface="Calibri" panose="020F0502020204030204"/>
            </a:endParaRPr>
          </a:p>
        </p:txBody>
      </p:sp>
      <p:sp>
        <p:nvSpPr>
          <p:cNvPr id="19" name="Итог 5"/>
          <p:cNvSpPr/>
          <p:nvPr/>
        </p:nvSpPr>
        <p:spPr>
          <a:xfrm>
            <a:off x="3291840" y="2926080"/>
            <a:ext cx="2560320" cy="150876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474720" y="3108960"/>
            <a:ext cx="411480" cy="411480"/>
          </a:xfrm>
          <a:prstGeom prst="ellipse">
            <a:avLst/>
          </a:prstGeom>
          <a:solidFill>
            <a:srgbClr val="0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 panose="02040503050406030204"/>
              </a:rPr>
              <a:t>5</a:t>
            </a:r>
            <a:endParaRPr sz="1400" b="1">
              <a:solidFill>
                <a:srgbClr val="FFFFFF"/>
              </a:solidFill>
              <a:latin typeface="Cambria" panose="0204050305040603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023360" y="3081528"/>
            <a:ext cx="17373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3D3E"/>
                </a:solidFill>
                <a:latin typeface="Cambria" panose="02040503050406030204"/>
              </a:rPr>
              <a:t>Построили графики</a:t>
            </a:r>
            <a:endParaRPr sz="1500" b="1">
              <a:solidFill>
                <a:srgbClr val="0F3D3E"/>
              </a:solidFill>
              <a:latin typeface="Cambria" panose="0204050305040603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474720" y="3657600"/>
            <a:ext cx="22402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1A2B2D"/>
                </a:solidFill>
                <a:latin typeface="Calibri" panose="020F0502020204030204"/>
              </a:rPr>
              <a:t>6 сценариев и сводный график</a:t>
            </a:r>
            <a:endParaRPr sz="1300" b="0">
              <a:solidFill>
                <a:srgbClr val="1A2B2D"/>
              </a:solidFill>
              <a:latin typeface="Calibri" panose="020F0502020204030204"/>
            </a:endParaRPr>
          </a:p>
        </p:txBody>
      </p:sp>
      <p:sp>
        <p:nvSpPr>
          <p:cNvPr id="23" name="Итог 6"/>
          <p:cNvSpPr/>
          <p:nvPr/>
        </p:nvSpPr>
        <p:spPr>
          <a:xfrm>
            <a:off x="6126480" y="2926080"/>
            <a:ext cx="2560320" cy="150876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309360" y="3108960"/>
            <a:ext cx="411480" cy="411480"/>
          </a:xfrm>
          <a:prstGeom prst="ellipse">
            <a:avLst/>
          </a:prstGeom>
          <a:solidFill>
            <a:srgbClr val="0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 panose="02040503050406030204"/>
              </a:rPr>
              <a:t>6</a:t>
            </a:r>
            <a:endParaRPr sz="1400" b="1">
              <a:solidFill>
                <a:srgbClr val="FFFFFF"/>
              </a:solidFill>
              <a:latin typeface="Cambria" panose="0204050305040603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858000" y="3081528"/>
            <a:ext cx="17373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3D3E"/>
                </a:solidFill>
                <a:latin typeface="Cambria" panose="02040503050406030204"/>
              </a:rPr>
              <a:t>Настроили работу</a:t>
            </a:r>
            <a:endParaRPr sz="1500" b="1">
              <a:solidFill>
                <a:srgbClr val="0F3D3E"/>
              </a:solidFill>
              <a:latin typeface="Cambria" panose="02040503050406030204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309360" y="3657600"/>
            <a:ext cx="22402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1A2B2D"/>
                </a:solidFill>
                <a:latin typeface="Calibri" panose="020F0502020204030204"/>
              </a:rPr>
              <a:t>Репозиторий GitLab и задачи в Сфере</a:t>
            </a:r>
            <a:endParaRPr sz="1300" b="0">
              <a:solidFill>
                <a:srgbClr val="1A2B2D"/>
              </a:solidFill>
              <a:latin typeface="Calibri" panose="020F0502020204030204"/>
            </a:endParaRPr>
          </a:p>
        </p:txBody>
      </p:sp>
      <p:sp>
        <p:nvSpPr>
          <p:cNvPr id="27" name="Кто делал 1"/>
          <p:cNvSpPr txBox="1"/>
          <p:nvPr/>
        </p:nvSpPr>
        <p:spPr>
          <a:xfrm>
            <a:off x="640080" y="231343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300" b="0">
                <a:solidFill>
                  <a:srgbClr val="5E6F70"/>
                </a:solidFill>
                <a:latin typeface="Calibri" panose="020F0502020204030204"/>
              </a:rPr>
              <a:t>Кто: </a:t>
            </a:r>
            <a:r>
              <a:rPr sz="1300" b="1">
                <a:solidFill>
                  <a:srgbClr val="0F6B6B"/>
                </a:solidFill>
                <a:latin typeface="Calibri" panose="020F0502020204030204"/>
              </a:rPr>
              <a:t>Вся команда</a:t>
            </a:r>
            <a:endParaRPr sz="1300" b="1">
              <a:solidFill>
                <a:srgbClr val="0F6B6B"/>
              </a:solidFill>
              <a:latin typeface="Calibri" panose="020F0502020204030204"/>
            </a:endParaRPr>
          </a:p>
        </p:txBody>
      </p:sp>
      <p:sp>
        <p:nvSpPr>
          <p:cNvPr id="28" name="Кто делал 2"/>
          <p:cNvSpPr txBox="1"/>
          <p:nvPr/>
        </p:nvSpPr>
        <p:spPr>
          <a:xfrm>
            <a:off x="3474720" y="231343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300" b="0">
                <a:solidFill>
                  <a:srgbClr val="5E6F70"/>
                </a:solidFill>
                <a:latin typeface="Calibri" panose="020F0502020204030204"/>
              </a:rPr>
              <a:t>Кто: </a:t>
            </a:r>
            <a:r>
              <a:rPr sz="1300" b="1">
                <a:solidFill>
                  <a:srgbClr val="0F6B6B"/>
                </a:solidFill>
                <a:latin typeface="Calibri" panose="020F0502020204030204"/>
              </a:rPr>
              <a:t>Михаил</a:t>
            </a:r>
            <a:endParaRPr sz="1300" b="1">
              <a:solidFill>
                <a:srgbClr val="0F6B6B"/>
              </a:solidFill>
              <a:latin typeface="Calibri" panose="020F0502020204030204"/>
            </a:endParaRPr>
          </a:p>
        </p:txBody>
      </p:sp>
      <p:sp>
        <p:nvSpPr>
          <p:cNvPr id="29" name="Кто делал 3"/>
          <p:cNvSpPr txBox="1"/>
          <p:nvPr/>
        </p:nvSpPr>
        <p:spPr>
          <a:xfrm>
            <a:off x="6309360" y="231343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300" b="0">
                <a:solidFill>
                  <a:srgbClr val="5E6F70"/>
                </a:solidFill>
                <a:latin typeface="Calibri" panose="020F0502020204030204"/>
              </a:rPr>
              <a:t>Кто: </a:t>
            </a:r>
            <a:r>
              <a:rPr sz="1300" b="1">
                <a:solidFill>
                  <a:srgbClr val="0F6B6B"/>
                </a:solidFill>
                <a:latin typeface="Calibri" panose="020F0502020204030204"/>
              </a:rPr>
              <a:t>Михаил, Ярослав</a:t>
            </a:r>
            <a:endParaRPr sz="1300" b="1">
              <a:solidFill>
                <a:srgbClr val="0F6B6B"/>
              </a:solidFill>
              <a:latin typeface="Calibri" panose="020F0502020204030204"/>
            </a:endParaRPr>
          </a:p>
        </p:txBody>
      </p:sp>
      <p:sp>
        <p:nvSpPr>
          <p:cNvPr id="30" name="Кто делал 4"/>
          <p:cNvSpPr txBox="1"/>
          <p:nvPr/>
        </p:nvSpPr>
        <p:spPr>
          <a:xfrm>
            <a:off x="640080" y="405079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300" b="0">
                <a:solidFill>
                  <a:srgbClr val="5E6F70"/>
                </a:solidFill>
                <a:latin typeface="Calibri" panose="020F0502020204030204"/>
              </a:rPr>
              <a:t>Кто: </a:t>
            </a:r>
            <a:r>
              <a:rPr sz="1300" b="1">
                <a:solidFill>
                  <a:srgbClr val="0F6B6B"/>
                </a:solidFill>
                <a:latin typeface="Calibri" panose="020F0502020204030204"/>
              </a:rPr>
              <a:t>Ярослав</a:t>
            </a:r>
            <a:endParaRPr sz="1300" b="1">
              <a:solidFill>
                <a:srgbClr val="0F6B6B"/>
              </a:solidFill>
              <a:latin typeface="Calibri" panose="020F0502020204030204"/>
            </a:endParaRPr>
          </a:p>
        </p:txBody>
      </p:sp>
      <p:sp>
        <p:nvSpPr>
          <p:cNvPr id="31" name="Кто делал 5"/>
          <p:cNvSpPr txBox="1"/>
          <p:nvPr/>
        </p:nvSpPr>
        <p:spPr>
          <a:xfrm>
            <a:off x="3474720" y="405079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300" b="0">
                <a:solidFill>
                  <a:srgbClr val="5E6F70"/>
                </a:solidFill>
                <a:latin typeface="Calibri" panose="020F0502020204030204"/>
              </a:rPr>
              <a:t>Кто: </a:t>
            </a:r>
            <a:r>
              <a:rPr sz="1300" b="1">
                <a:solidFill>
                  <a:srgbClr val="0F6B6B"/>
                </a:solidFill>
                <a:latin typeface="Calibri" panose="020F0502020204030204"/>
              </a:rPr>
              <a:t>Александр</a:t>
            </a:r>
            <a:endParaRPr sz="1300" b="1">
              <a:solidFill>
                <a:srgbClr val="0F6B6B"/>
              </a:solidFill>
              <a:latin typeface="Calibri" panose="020F0502020204030204"/>
            </a:endParaRPr>
          </a:p>
        </p:txBody>
      </p:sp>
      <p:sp>
        <p:nvSpPr>
          <p:cNvPr id="32" name="Кто делал 6"/>
          <p:cNvSpPr txBox="1"/>
          <p:nvPr/>
        </p:nvSpPr>
        <p:spPr>
          <a:xfrm>
            <a:off x="6309360" y="405079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300" b="0">
                <a:solidFill>
                  <a:srgbClr val="5E6F70"/>
                </a:solidFill>
                <a:latin typeface="Calibri" panose="020F0502020204030204"/>
              </a:rPr>
              <a:t>Кто: </a:t>
            </a:r>
            <a:r>
              <a:rPr sz="1300" b="1">
                <a:solidFill>
                  <a:srgbClr val="0F6B6B"/>
                </a:solidFill>
                <a:latin typeface="Calibri" panose="020F0502020204030204"/>
              </a:rPr>
              <a:t>Даниил, Михаил</a:t>
            </a:r>
            <a:endParaRPr sz="1300" b="1">
              <a:solidFill>
                <a:srgbClr val="0F6B6B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F3D3E"/>
                </a:solidFill>
                <a:latin typeface="Cambria" panose="02040503050406030204"/>
              </a:rPr>
              <a:t>Куда идём: архитектура модуля</a:t>
            </a:r>
            <a:endParaRPr sz="2800" b="1">
              <a:solidFill>
                <a:srgbClr val="0F3D3E"/>
              </a:solidFill>
              <a:latin typeface="Cambria" panose="02040503050406030204"/>
            </a:endParaRPr>
          </a:p>
        </p:txBody>
      </p:sp>
      <p:sp>
        <p:nvSpPr>
          <p:cNvPr id="3" name="Блок 1"/>
          <p:cNvSpPr/>
          <p:nvPr/>
        </p:nvSpPr>
        <p:spPr>
          <a:xfrm>
            <a:off x="457200" y="1234440"/>
            <a:ext cx="1783080" cy="14630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508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3D3E"/>
                </a:solidFill>
                <a:latin typeface="Cambria" panose="02040503050406030204"/>
              </a:rPr>
              <a:t>MOEX</a:t>
            </a:r>
            <a:endParaRPr sz="1800" b="1">
              <a:solidFill>
                <a:srgbClr val="0F3D3E"/>
              </a:solidFill>
              <a:latin typeface="Cambria" panose="02040503050406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1828800"/>
            <a:ext cx="15087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1A2B2D"/>
                </a:solidFill>
                <a:latin typeface="Calibri" panose="020F0502020204030204"/>
              </a:rPr>
              <a:t>Кривая ОФЗ с биржи</a:t>
            </a:r>
            <a:endParaRPr sz="1300" b="0">
              <a:solidFill>
                <a:srgbClr val="1A2B2D"/>
              </a:solidFill>
              <a:latin typeface="Calibri" panose="020F050202020403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286000" y="1691640"/>
            <a:ext cx="2743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E0A030"/>
                </a:solidFill>
                <a:latin typeface="Calibri" panose="020F0502020204030204"/>
              </a:rPr>
              <a:t>›</a:t>
            </a:r>
            <a:endParaRPr sz="2800" b="1">
              <a:solidFill>
                <a:srgbClr val="E0A030"/>
              </a:solidFill>
              <a:latin typeface="Calibri" panose="020F0502020204030204"/>
            </a:endParaRPr>
          </a:p>
        </p:txBody>
      </p:sp>
      <p:sp>
        <p:nvSpPr>
          <p:cNvPr id="7" name="Блок 2"/>
          <p:cNvSpPr/>
          <p:nvPr/>
        </p:nvSpPr>
        <p:spPr>
          <a:xfrm>
            <a:off x="2606040" y="1234440"/>
            <a:ext cx="1783080" cy="14630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1371600"/>
            <a:ext cx="1508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3D3E"/>
                </a:solidFill>
                <a:latin typeface="Cambria" panose="02040503050406030204"/>
              </a:rPr>
              <a:t>Загрузка</a:t>
            </a:r>
            <a:endParaRPr sz="1800" b="1">
              <a:solidFill>
                <a:srgbClr val="0F3D3E"/>
              </a:solidFill>
              <a:latin typeface="Cambria" panose="0204050305040603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743200" y="1828800"/>
            <a:ext cx="15087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1A2B2D"/>
                </a:solidFill>
                <a:latin typeface="Calibri" panose="020F0502020204030204"/>
              </a:rPr>
              <a:t>Python-скрипт по расписанию</a:t>
            </a:r>
            <a:endParaRPr sz="1300" b="0">
              <a:solidFill>
                <a:srgbClr val="1A2B2D"/>
              </a:solidFill>
              <a:latin typeface="Calibri" panose="020F050202020403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434840" y="1691640"/>
            <a:ext cx="2743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E0A030"/>
                </a:solidFill>
                <a:latin typeface="Calibri" panose="020F0502020204030204"/>
              </a:rPr>
              <a:t>›</a:t>
            </a:r>
            <a:endParaRPr sz="2800" b="1">
              <a:solidFill>
                <a:srgbClr val="E0A030"/>
              </a:solidFill>
              <a:latin typeface="Calibri" panose="020F0502020204030204"/>
            </a:endParaRPr>
          </a:p>
        </p:txBody>
      </p:sp>
      <p:sp>
        <p:nvSpPr>
          <p:cNvPr id="11" name="Блок 3"/>
          <p:cNvSpPr/>
          <p:nvPr/>
        </p:nvSpPr>
        <p:spPr>
          <a:xfrm>
            <a:off x="4754880" y="1234440"/>
            <a:ext cx="1783080" cy="14630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92040" y="1371600"/>
            <a:ext cx="1508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3D3E"/>
                </a:solidFill>
                <a:latin typeface="Cambria" panose="02040503050406030204"/>
              </a:rPr>
              <a:t>Расчёт</a:t>
            </a:r>
            <a:endParaRPr sz="1800" b="1">
              <a:solidFill>
                <a:srgbClr val="0F3D3E"/>
              </a:solidFill>
              <a:latin typeface="Cambria" panose="02040503050406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892040" y="1828800"/>
            <a:ext cx="15087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1A2B2D"/>
                </a:solidFill>
                <a:latin typeface="Calibri" panose="020F0502020204030204"/>
              </a:rPr>
              <a:t>19 сроков и 6 сценариев на Python</a:t>
            </a:r>
            <a:endParaRPr sz="1300" b="0">
              <a:solidFill>
                <a:srgbClr val="1A2B2D"/>
              </a:solidFill>
              <a:latin typeface="Calibri" panose="020F0502020204030204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583680" y="1691640"/>
            <a:ext cx="2743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E0A030"/>
                </a:solidFill>
                <a:latin typeface="Calibri" panose="020F0502020204030204"/>
              </a:rPr>
              <a:t>›</a:t>
            </a:r>
            <a:endParaRPr sz="2800" b="1">
              <a:solidFill>
                <a:srgbClr val="E0A030"/>
              </a:solidFill>
              <a:latin typeface="Calibri" panose="020F0502020204030204"/>
            </a:endParaRPr>
          </a:p>
        </p:txBody>
      </p:sp>
      <p:sp>
        <p:nvSpPr>
          <p:cNvPr id="15" name="Блок 4"/>
          <p:cNvSpPr/>
          <p:nvPr/>
        </p:nvSpPr>
        <p:spPr>
          <a:xfrm>
            <a:off x="6903720" y="1234440"/>
            <a:ext cx="1783080" cy="1463040"/>
          </a:xfrm>
          <a:prstGeom prst="roundRect">
            <a:avLst>
              <a:gd name="adj" fmla="val 6000"/>
            </a:avLst>
          </a:prstGeom>
          <a:solidFill>
            <a:srgbClr val="0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0" y="1371600"/>
            <a:ext cx="1508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mbria" panose="02040503050406030204"/>
              </a:rPr>
              <a:t>Витрина</a:t>
            </a:r>
            <a:endParaRPr sz="1800" b="1">
              <a:solidFill>
                <a:srgbClr val="FFFFFF"/>
              </a:solidFill>
              <a:latin typeface="Cambria" panose="0204050305040603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040880" y="1828800"/>
            <a:ext cx="15087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 panose="020F0502020204030204"/>
              </a:rPr>
              <a:t>Сайт: графики, выбор сценария, выгрузка</a:t>
            </a:r>
            <a:endParaRPr sz="13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8" name="Хранение"/>
          <p:cNvSpPr/>
          <p:nvPr/>
        </p:nvSpPr>
        <p:spPr>
          <a:xfrm>
            <a:off x="457200" y="2926080"/>
            <a:ext cx="8229600" cy="685800"/>
          </a:xfrm>
          <a:prstGeom prst="roundRect">
            <a:avLst>
              <a:gd name="adj" fmla="val 6000"/>
            </a:avLst>
          </a:prstGeom>
          <a:solidFill>
            <a:srgbClr val="FBF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926080"/>
            <a:ext cx="78638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2B2D"/>
                </a:solidFill>
                <a:latin typeface="Calibri" panose="020F0502020204030204"/>
              </a:rPr>
              <a:t>База данных: </a:t>
            </a:r>
            <a:r>
              <a:rPr sz="1400" b="0">
                <a:solidFill>
                  <a:srgbClr val="1A2B2D"/>
                </a:solidFill>
                <a:latin typeface="Calibri" panose="020F0502020204030204"/>
              </a:rPr>
              <a:t>храним кривые за разные даты и результаты сценариев, их же забирают команды 1 и 3</a:t>
            </a:r>
            <a:endParaRPr sz="1400" b="0">
              <a:solidFill>
                <a:srgbClr val="1A2B2D"/>
              </a:solidFill>
              <a:latin typeface="Calibri" panose="020F0502020204030204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57200" y="379476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F6B6B"/>
                </a:solidFill>
                <a:latin typeface="Calibri" panose="020F0502020204030204"/>
              </a:rPr>
              <a:t>Python</a:t>
            </a:r>
            <a:endParaRPr sz="1300" b="1">
              <a:solidFill>
                <a:srgbClr val="0F6B6B"/>
              </a:solidFill>
              <a:latin typeface="Calibri" panose="020F050202020403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57200" y="4096512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2B2D"/>
                </a:solidFill>
                <a:latin typeface="Calibri" panose="020F0502020204030204"/>
              </a:rPr>
              <a:t>pandas, numpy</a:t>
            </a:r>
            <a:endParaRPr sz="1400" b="0">
              <a:solidFill>
                <a:srgbClr val="1A2B2D"/>
              </a:solidFill>
              <a:latin typeface="Calibri" panose="020F050202020403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560320" y="379476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F6B6B"/>
                </a:solidFill>
                <a:latin typeface="Calibri" panose="020F0502020204030204"/>
              </a:rPr>
              <a:t>Сервер</a:t>
            </a:r>
            <a:endParaRPr sz="1300" b="1">
              <a:solidFill>
                <a:srgbClr val="0F6B6B"/>
              </a:solidFill>
              <a:latin typeface="Calibri" panose="020F050202020403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560320" y="4096512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2B2D"/>
                </a:solidFill>
                <a:latin typeface="Calibri" panose="020F0502020204030204"/>
              </a:rPr>
              <a:t>FastAPI</a:t>
            </a:r>
            <a:endParaRPr sz="1400" b="0">
              <a:solidFill>
                <a:srgbClr val="1A2B2D"/>
              </a:solidFill>
              <a:latin typeface="Calibri" panose="020F05020202040302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663440" y="379476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F6B6B"/>
                </a:solidFill>
                <a:latin typeface="Calibri" panose="020F0502020204030204"/>
              </a:rPr>
              <a:t>База</a:t>
            </a:r>
            <a:endParaRPr sz="1300" b="1">
              <a:solidFill>
                <a:srgbClr val="0F6B6B"/>
              </a:solidFill>
              <a:latin typeface="Calibri" panose="020F050202020403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663440" y="4096512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2B2D"/>
                </a:solidFill>
                <a:latin typeface="Calibri" panose="020F0502020204030204"/>
              </a:rPr>
              <a:t>PostgreSQL</a:t>
            </a:r>
            <a:endParaRPr sz="1400" b="0">
              <a:solidFill>
                <a:srgbClr val="1A2B2D"/>
              </a:solidFill>
              <a:latin typeface="Calibri" panose="020F0502020204030204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766559" y="379476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F6B6B"/>
                </a:solidFill>
                <a:latin typeface="Calibri" panose="020F0502020204030204"/>
              </a:rPr>
              <a:t>Запуск</a:t>
            </a:r>
            <a:endParaRPr sz="1300" b="1">
              <a:solidFill>
                <a:srgbClr val="0F6B6B"/>
              </a:solidFill>
              <a:latin typeface="Calibri" panose="020F0502020204030204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766559" y="4096512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2B2D"/>
                </a:solidFill>
                <a:latin typeface="Calibri" panose="020F0502020204030204"/>
              </a:rPr>
              <a:t>Docker, GitLab CI</a:t>
            </a:r>
            <a:endParaRPr sz="1400" b="0">
              <a:solidFill>
                <a:srgbClr val="1A2B2D"/>
              </a:solidFill>
              <a:latin typeface="Calibri" panose="020F0502020204030204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dirty="0" err="1">
                <a:solidFill>
                  <a:srgbClr val="5E6F70"/>
                </a:solidFill>
                <a:latin typeface="Calibri" panose="020F0502020204030204"/>
              </a:rPr>
              <a:t>Стек</a:t>
            </a:r>
            <a:r>
              <a:rPr sz="1100" b="0" dirty="0">
                <a:solidFill>
                  <a:srgbClr val="5E6F70"/>
                </a:solidFill>
                <a:latin typeface="Calibri" panose="020F0502020204030204"/>
              </a:rPr>
              <a:t> </a:t>
            </a:r>
            <a:r>
              <a:rPr sz="1100" b="0" dirty="0" err="1">
                <a:solidFill>
                  <a:srgbClr val="5E6F70"/>
                </a:solidFill>
                <a:latin typeface="Calibri" panose="020F0502020204030204"/>
              </a:rPr>
              <a:t>предварительный</a:t>
            </a:r>
            <a:r>
              <a:rPr sz="1100" b="0" dirty="0">
                <a:solidFill>
                  <a:srgbClr val="5E6F70"/>
                </a:solidFill>
                <a:latin typeface="Calibri" panose="020F0502020204030204"/>
              </a:rPr>
              <a:t>, </a:t>
            </a:r>
            <a:r>
              <a:rPr sz="1100" b="0" dirty="0" err="1">
                <a:solidFill>
                  <a:srgbClr val="5E6F70"/>
                </a:solidFill>
                <a:latin typeface="Calibri" panose="020F0502020204030204"/>
              </a:rPr>
              <a:t>уточним</a:t>
            </a:r>
            <a:r>
              <a:rPr sz="1100" b="0" dirty="0">
                <a:solidFill>
                  <a:srgbClr val="5E6F70"/>
                </a:solidFill>
                <a:latin typeface="Calibri" panose="020F0502020204030204"/>
              </a:rPr>
              <a:t> </a:t>
            </a:r>
            <a:r>
              <a:rPr sz="1100" b="0" dirty="0" err="1">
                <a:solidFill>
                  <a:srgbClr val="5E6F70"/>
                </a:solidFill>
                <a:latin typeface="Calibri" panose="020F0502020204030204"/>
              </a:rPr>
              <a:t>в</a:t>
            </a:r>
            <a:r>
              <a:rPr sz="1100" b="0" dirty="0">
                <a:solidFill>
                  <a:srgbClr val="5E6F70"/>
                </a:solidFill>
                <a:latin typeface="Calibri" panose="020F0502020204030204"/>
              </a:rPr>
              <a:t> </a:t>
            </a:r>
            <a:r>
              <a:rPr sz="1100" b="0" dirty="0" err="1">
                <a:solidFill>
                  <a:srgbClr val="5E6F70"/>
                </a:solidFill>
                <a:latin typeface="Calibri" panose="020F0502020204030204"/>
              </a:rPr>
              <a:t>следующем</a:t>
            </a:r>
            <a:r>
              <a:rPr sz="1100" b="0" dirty="0">
                <a:solidFill>
                  <a:srgbClr val="5E6F70"/>
                </a:solidFill>
                <a:latin typeface="Calibri" panose="020F0502020204030204"/>
              </a:rPr>
              <a:t> </a:t>
            </a:r>
            <a:r>
              <a:rPr sz="1100" b="0" dirty="0" err="1">
                <a:solidFill>
                  <a:srgbClr val="5E6F70"/>
                </a:solidFill>
                <a:latin typeface="Calibri" panose="020F0502020204030204"/>
              </a:rPr>
              <a:t>спринте</a:t>
            </a:r>
            <a:endParaRPr sz="1100" b="0" dirty="0">
              <a:solidFill>
                <a:srgbClr val="5E6F70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3D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/>
        </p:nvSpPr>
        <p:spPr>
          <a:xfrm>
            <a:off x="457200" y="424636"/>
            <a:ext cx="822960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0"/>
              </a:spcAft>
            </a:pPr>
            <a:r>
              <a:rPr sz="2800" b="1" dirty="0" err="1">
                <a:solidFill>
                  <a:srgbClr val="FFFFFF"/>
                </a:solidFill>
                <a:latin typeface="Cambria" panose="02040503050406030204"/>
              </a:rPr>
              <a:t>Планы</a:t>
            </a:r>
            <a:r>
              <a:rPr sz="2800" b="1" dirty="0">
                <a:solidFill>
                  <a:srgbClr val="FFFFFF"/>
                </a:solidFill>
                <a:latin typeface="Cambria" panose="02040503050406030204"/>
              </a:rPr>
              <a:t> </a:t>
            </a:r>
            <a:r>
              <a:rPr sz="2800" b="1" dirty="0" err="1">
                <a:solidFill>
                  <a:srgbClr val="FFFFFF"/>
                </a:solidFill>
                <a:latin typeface="Cambria" panose="02040503050406030204"/>
              </a:rPr>
              <a:t>на</a:t>
            </a:r>
            <a:r>
              <a:rPr sz="2800" b="1" dirty="0">
                <a:solidFill>
                  <a:srgbClr val="FFFFFF"/>
                </a:solidFill>
                <a:latin typeface="Cambria" panose="02040503050406030204"/>
              </a:rPr>
              <a:t> </a:t>
            </a:r>
            <a:r>
              <a:rPr sz="2800" b="1" dirty="0" err="1">
                <a:solidFill>
                  <a:srgbClr val="FFFFFF"/>
                </a:solidFill>
                <a:latin typeface="Cambria" panose="02040503050406030204"/>
              </a:rPr>
              <a:t>следующий</a:t>
            </a:r>
            <a:r>
              <a:rPr sz="2800" b="1" dirty="0">
                <a:solidFill>
                  <a:srgbClr val="FFFFFF"/>
                </a:solidFill>
                <a:latin typeface="Cambria" panose="02040503050406030204"/>
              </a:rPr>
              <a:t> </a:t>
            </a:r>
            <a:r>
              <a:rPr sz="2800" b="1" dirty="0" err="1">
                <a:solidFill>
                  <a:srgbClr val="FFFFFF"/>
                </a:solidFill>
                <a:latin typeface="Cambria" panose="02040503050406030204"/>
              </a:rPr>
              <a:t>спринт</a:t>
            </a:r>
            <a:endParaRPr sz="2800" b="1" dirty="0">
              <a:solidFill>
                <a:srgbClr val="FFFFFF"/>
              </a:solidFill>
              <a:latin typeface="Cambria" panose="02040503050406030204"/>
            </a:endParaRPr>
          </a:p>
        </p:txBody>
      </p:sp>
      <p:sp>
        <p:nvSpPr>
          <p:cNvPr id="3" name="Oval 2"/>
          <p:cNvSpPr/>
          <p:nvPr/>
        </p:nvSpPr>
        <p:spPr>
          <a:xfrm>
            <a:off x="457200" y="1280160"/>
            <a:ext cx="594360" cy="594360"/>
          </a:xfrm>
          <a:prstGeom prst="ellipse">
            <a:avLst/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0F3D3E"/>
                </a:solidFill>
                <a:latin typeface="Cambria" panose="02040503050406030204"/>
              </a:rPr>
              <a:t>1</a:t>
            </a:r>
            <a:endParaRPr sz="2000" b="1">
              <a:solidFill>
                <a:srgbClr val="0F3D3E"/>
              </a:solidFill>
              <a:latin typeface="Cambria" panose="02040503050406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25603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mbria" panose="02040503050406030204"/>
              </a:rPr>
              <a:t>Загрузка сама</a:t>
            </a:r>
            <a:endParaRPr sz="2000" b="1">
              <a:solidFill>
                <a:srgbClr val="FFFFFF"/>
              </a:solidFill>
              <a:latin typeface="Cambria" panose="02040503050406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2560320"/>
            <a:ext cx="25603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DCE7E4"/>
                </a:solidFill>
                <a:latin typeface="Calibri" panose="020F0502020204030204"/>
              </a:rPr>
              <a:t>Кривая с биржи загружается автоматически на любую дату</a:t>
            </a:r>
            <a:endParaRPr sz="1400" b="0">
              <a:solidFill>
                <a:srgbClr val="DCE7E4"/>
              </a:solidFill>
              <a:latin typeface="Calibri" panose="020F0502020204030204"/>
            </a:endParaRPr>
          </a:p>
        </p:txBody>
      </p:sp>
      <p:sp>
        <p:nvSpPr>
          <p:cNvPr id="6" name="Oval 5"/>
          <p:cNvSpPr/>
          <p:nvPr/>
        </p:nvSpPr>
        <p:spPr>
          <a:xfrm>
            <a:off x="3291840" y="1280160"/>
            <a:ext cx="594360" cy="594360"/>
          </a:xfrm>
          <a:prstGeom prst="ellipse">
            <a:avLst/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0F3D3E"/>
                </a:solidFill>
                <a:latin typeface="Cambria" panose="02040503050406030204"/>
              </a:rPr>
              <a:t>2</a:t>
            </a:r>
            <a:endParaRPr sz="2000" b="1">
              <a:solidFill>
                <a:srgbClr val="0F3D3E"/>
              </a:solidFill>
              <a:latin typeface="Cambria" panose="0204050305040603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291840" y="2057400"/>
            <a:ext cx="25603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mbria" panose="02040503050406030204"/>
              </a:rPr>
              <a:t>Расчёт в коде</a:t>
            </a:r>
            <a:endParaRPr sz="2000" b="1">
              <a:solidFill>
                <a:srgbClr val="FFFFFF"/>
              </a:solidFill>
              <a:latin typeface="Cambria" panose="0204050305040603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291840" y="2560320"/>
            <a:ext cx="25603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DCE7E4"/>
                </a:solidFill>
                <a:latin typeface="Calibri" panose="020F0502020204030204"/>
              </a:rPr>
              <a:t>Переносим формулы сценариев из Excel в Python</a:t>
            </a:r>
            <a:endParaRPr sz="1400" b="0">
              <a:solidFill>
                <a:srgbClr val="DCE7E4"/>
              </a:solidFill>
              <a:latin typeface="Calibri" panose="020F0502020204030204"/>
            </a:endParaRPr>
          </a:p>
        </p:txBody>
      </p:sp>
      <p:sp>
        <p:nvSpPr>
          <p:cNvPr id="9" name="Oval 8"/>
          <p:cNvSpPr/>
          <p:nvPr/>
        </p:nvSpPr>
        <p:spPr>
          <a:xfrm>
            <a:off x="6126480" y="1280160"/>
            <a:ext cx="594360" cy="594360"/>
          </a:xfrm>
          <a:prstGeom prst="ellipse">
            <a:avLst/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0F3D3E"/>
                </a:solidFill>
                <a:latin typeface="Cambria" panose="02040503050406030204"/>
              </a:rPr>
              <a:t>3</a:t>
            </a:r>
            <a:endParaRPr sz="2000" b="1">
              <a:solidFill>
                <a:srgbClr val="0F3D3E"/>
              </a:solidFill>
              <a:latin typeface="Cambria" panose="0204050305040603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126480" y="2057400"/>
            <a:ext cx="25603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mbria" panose="02040503050406030204"/>
              </a:rPr>
              <a:t>Первый сайт</a:t>
            </a:r>
            <a:endParaRPr sz="2000" b="1">
              <a:solidFill>
                <a:srgbClr val="FFFFFF"/>
              </a:solidFill>
              <a:latin typeface="Cambria" panose="0204050305040603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126480" y="2560320"/>
            <a:ext cx="25603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DCE7E4"/>
                </a:solidFill>
                <a:latin typeface="Calibri" panose="020F0502020204030204"/>
              </a:rPr>
              <a:t>Страница с графиками и выбором сценария</a:t>
            </a:r>
            <a:endParaRPr sz="1400" b="0">
              <a:solidFill>
                <a:srgbClr val="DCE7E4"/>
              </a:solidFill>
              <a:latin typeface="Calibri" panose="020F050202020403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7200" y="4114800"/>
            <a:ext cx="82296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 dirty="0" err="1">
                <a:solidFill>
                  <a:srgbClr val="E0A030"/>
                </a:solidFill>
                <a:latin typeface="Cambria" panose="02040503050406030204"/>
              </a:rPr>
              <a:t>Спасибо</a:t>
            </a:r>
            <a:r>
              <a:rPr sz="2400" b="1" dirty="0">
                <a:solidFill>
                  <a:srgbClr val="E0A030"/>
                </a:solidFill>
                <a:latin typeface="Cambria" panose="02040503050406030204"/>
              </a:rPr>
              <a:t> </a:t>
            </a:r>
            <a:r>
              <a:rPr sz="2400" b="1" dirty="0" err="1">
                <a:solidFill>
                  <a:srgbClr val="E0A030"/>
                </a:solidFill>
                <a:latin typeface="Cambria" panose="02040503050406030204"/>
              </a:rPr>
              <a:t>за</a:t>
            </a:r>
            <a:r>
              <a:rPr sz="2400" b="1" dirty="0">
                <a:solidFill>
                  <a:srgbClr val="E0A030"/>
                </a:solidFill>
                <a:latin typeface="Cambria" panose="02040503050406030204"/>
              </a:rPr>
              <a:t> </a:t>
            </a:r>
            <a:r>
              <a:rPr sz="2400" b="1" dirty="0" err="1">
                <a:solidFill>
                  <a:srgbClr val="E0A030"/>
                </a:solidFill>
                <a:latin typeface="Cambria" panose="02040503050406030204"/>
              </a:rPr>
              <a:t>внимание</a:t>
            </a:r>
            <a:r>
              <a:rPr sz="2400" b="1" dirty="0">
                <a:solidFill>
                  <a:srgbClr val="E0A030"/>
                </a:solidFill>
                <a:latin typeface="Cambria" panose="02040503050406030204"/>
              </a:rPr>
              <a:t>!</a:t>
            </a:r>
            <a:endParaRPr sz="2400" b="1" dirty="0">
              <a:solidFill>
                <a:srgbClr val="E0A030"/>
              </a:solidFill>
              <a:latin typeface="Cambria" panose="0204050305040603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2802</Words>
  <Application>WPS Presentation</Application>
  <PresentationFormat>Экран (16:9)</PresentationFormat>
  <Paragraphs>255</Paragraphs>
  <Slides>9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8" baseType="lpstr">
      <vt:lpstr>Arial</vt:lpstr>
      <vt:lpstr>SimSun</vt:lpstr>
      <vt:lpstr>Wingdings</vt:lpstr>
      <vt:lpstr>Arial</vt:lpstr>
      <vt:lpstr>Cambria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Стресс-сценарии IRRBB на кривой доходности ОФЗ</dc:title>
  <dc:creator>Команда 2</dc:creator>
  <dc:description>generated using python-pptx</dc:description>
  <cp:lastModifiedBy>Mihail Sleptsov</cp:lastModifiedBy>
  <cp:revision>3</cp:revision>
  <dcterms:created xsi:type="dcterms:W3CDTF">2013-01-27T09:14:00Z</dcterms:created>
  <dcterms:modified xsi:type="dcterms:W3CDTF">2026-10-10T08:21:16Z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218954B5361C4B69AC6791561B61ACF7_13</vt:lpwstr>
  </property>
  <property fmtid="{D5CDD505-2E9C-101B-9397-08002B2CF9AE}" pid="3" name="KSOProductBuildVer">
    <vt:lpwstr>1049-12.1.0.28485</vt:lpwstr>
  </property>
</Properties>
</file>