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165" d="100"/>
          <a:sy n="165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1ABB724-DA0D-41E1-E593-45EFE414EE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453C1F1-015D-3C43-5045-3EFA67DF5C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03139-1D79-6A4F-9CF4-BB5263833832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F3B7663-5960-1034-5F4F-4F7816D74B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11D8D39-C573-81A5-A80F-1AB5EA6BD9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2A659-968E-2746-8855-7375F3491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4002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102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25BA-85E3-384C-B311-E5F917DDC03C}" type="datetime1">
              <a:rPr lang="ru-RU" smtClean="0"/>
              <a:t>10.10.2026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0B81-EE5F-8B4A-BB87-10B823EF3C97}" type="datetime1">
              <a:rPr lang="ru-RU" smtClean="0"/>
              <a:t>10.10.2026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5BAD8-16E4-5446-84EE-0F37E5E48586}" type="datetime1">
              <a:rPr lang="ru-RU" smtClean="0"/>
              <a:t>10.10.2026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5117-E79B-8648-BD61-64D62EA9A4A0}" type="datetime1">
              <a:rPr lang="ru-RU" smtClean="0"/>
              <a:t>10.10.2026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B7890-28F7-0448-B617-C11D795AA28C}" type="datetime1">
              <a:rPr lang="ru-RU" smtClean="0"/>
              <a:t>10.10.2026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2BFB-84C7-6841-8B83-05F99EABAF86}" type="datetime1">
              <a:rPr lang="ru-RU" smtClean="0"/>
              <a:t>10.10.2026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5BC0-A45C-4442-A6F6-909362AA5C5F}" type="datetime1">
              <a:rPr lang="ru-RU" smtClean="0"/>
              <a:t>10.10.2026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0FB28-6697-6C48-9956-D7D0CD59644A}" type="datetime1">
              <a:rPr lang="ru-RU" smtClean="0"/>
              <a:t>10.10.2026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ADF68-2127-B044-B27E-A8FD086478DA}" type="datetime1">
              <a:rPr lang="ru-RU" smtClean="0"/>
              <a:t>10.10.2026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C08C-D8D8-9E4F-9E90-D365A1DB5166}" type="datetime1">
              <a:rPr lang="ru-RU" smtClean="0"/>
              <a:t>10.10.2026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4EE0-9502-214C-A5F6-F6EC7964903B}" type="datetime1">
              <a:rPr lang="ru-RU" smtClean="0"/>
              <a:t>10.10.2026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59DA3-C413-B14D-852B-58DF14844DCE}" type="datetime1">
              <a:rPr lang="ru-RU" smtClean="0"/>
              <a:t>10.10.2026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548640" y="1280160"/>
            <a:ext cx="804672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dirty="0" err="1">
                <a:solidFill>
                  <a:srgbClr val="FFFFFF"/>
                </a:solidFill>
                <a:latin typeface="Cambria"/>
              </a:rPr>
              <a:t>Стресс-сценарии</a:t>
            </a:r>
            <a:r>
              <a:rPr sz="3800" b="1" dirty="0">
                <a:solidFill>
                  <a:srgbClr val="FFFFFF"/>
                </a:solidFill>
                <a:latin typeface="Cambria"/>
              </a:rPr>
              <a:t> IRRBB </a:t>
            </a:r>
            <a:r>
              <a:rPr sz="3800" b="1" dirty="0" err="1">
                <a:solidFill>
                  <a:srgbClr val="FFFFFF"/>
                </a:solidFill>
                <a:latin typeface="Cambria"/>
              </a:rPr>
              <a:t>на</a:t>
            </a:r>
            <a:r>
              <a:rPr sz="38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Cambria"/>
              </a:rPr>
              <a:t>кривой</a:t>
            </a:r>
            <a:r>
              <a:rPr sz="38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Cambria"/>
              </a:rPr>
              <a:t>доходности</a:t>
            </a:r>
            <a:r>
              <a:rPr sz="3800" b="1" dirty="0">
                <a:solidFill>
                  <a:srgbClr val="FFFFFF"/>
                </a:solidFill>
                <a:latin typeface="Cambria"/>
              </a:rPr>
              <a:t> ОФЗ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017520"/>
            <a:ext cx="804672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ru-RU" sz="2500" b="1" dirty="0">
                <a:solidFill>
                  <a:srgbClr val="E0A030"/>
                </a:solidFill>
                <a:latin typeface="Cambria"/>
              </a:rPr>
              <a:t>Команда</a:t>
            </a:r>
            <a:r>
              <a:rPr lang="en-US" sz="2500" b="1" dirty="0">
                <a:solidFill>
                  <a:srgbClr val="E0A030"/>
                </a:solidFill>
                <a:latin typeface="Cambria"/>
              </a:rPr>
              <a:t> - </a:t>
            </a:r>
            <a:r>
              <a:rPr lang="en-US" sz="2500" b="1" dirty="0" err="1">
                <a:solidFill>
                  <a:srgbClr val="E0A030"/>
                </a:solidFill>
                <a:latin typeface="Cambria"/>
              </a:rPr>
              <a:t>newera</a:t>
            </a:r>
            <a:endParaRPr sz="2500" b="1" dirty="0">
              <a:solidFill>
                <a:srgbClr val="E0A030"/>
              </a:solidFill>
              <a:latin typeface="Cambria"/>
            </a:endParaRPr>
          </a:p>
        </p:txBody>
      </p:sp>
      <p:sp>
        <p:nvSpPr>
          <p:cNvPr id="4" name="Декоративная кривая"/>
          <p:cNvSpPr/>
          <p:nvPr/>
        </p:nvSpPr>
        <p:spPr>
          <a:xfrm>
            <a:off x="5486400" y="548640"/>
            <a:ext cx="3108960" cy="640079"/>
          </a:xfrm>
          <a:custGeom>
            <a:avLst/>
            <a:gdLst/>
            <a:ahLst/>
            <a:cxnLst/>
            <a:rect l="l" t="t" r="r" b="b"/>
            <a:pathLst>
              <a:path w="3108960" h="640079">
                <a:moveTo>
                  <a:pt x="0" y="590376"/>
                </a:moveTo>
                <a:lnTo>
                  <a:pt x="172720" y="590376"/>
                </a:lnTo>
                <a:lnTo>
                  <a:pt x="345440" y="590376"/>
                </a:lnTo>
                <a:lnTo>
                  <a:pt x="518160" y="619471"/>
                </a:lnTo>
                <a:lnTo>
                  <a:pt x="690880" y="640079"/>
                </a:lnTo>
                <a:lnTo>
                  <a:pt x="863600" y="606136"/>
                </a:lnTo>
                <a:lnTo>
                  <a:pt x="1036320" y="523095"/>
                </a:lnTo>
                <a:lnTo>
                  <a:pt x="1209040" y="407929"/>
                </a:lnTo>
                <a:lnTo>
                  <a:pt x="1381760" y="292157"/>
                </a:lnTo>
                <a:lnTo>
                  <a:pt x="1554480" y="212147"/>
                </a:lnTo>
                <a:lnTo>
                  <a:pt x="1727200" y="168505"/>
                </a:lnTo>
                <a:lnTo>
                  <a:pt x="1899920" y="137592"/>
                </a:lnTo>
                <a:lnTo>
                  <a:pt x="2072639" y="119408"/>
                </a:lnTo>
                <a:lnTo>
                  <a:pt x="2245360" y="105467"/>
                </a:lnTo>
                <a:lnTo>
                  <a:pt x="2418079" y="95769"/>
                </a:lnTo>
                <a:lnTo>
                  <a:pt x="2590800" y="86071"/>
                </a:lnTo>
                <a:lnTo>
                  <a:pt x="2763520" y="63038"/>
                </a:lnTo>
                <a:lnTo>
                  <a:pt x="2936240" y="31519"/>
                </a:lnTo>
                <a:lnTo>
                  <a:pt x="3108960" y="0"/>
                </a:lnTo>
              </a:path>
            </a:pathLst>
          </a:custGeom>
          <a:noFill/>
          <a:ln w="38100">
            <a:solidFill>
              <a:srgbClr val="E0A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A9FA2A-B96C-4060-3342-CE8380B94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424636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2800" b="1" dirty="0">
                <a:solidFill>
                  <a:srgbClr val="0F3D3E"/>
                </a:solidFill>
                <a:latin typeface="Cambria"/>
              </a:rPr>
              <a:t>Команда и роли</a:t>
            </a:r>
            <a:endParaRPr sz="2800" b="1" dirty="0">
              <a:solidFill>
                <a:srgbClr val="0F3D3E"/>
              </a:solidFill>
              <a:latin typeface="Cambria"/>
            </a:endParaRPr>
          </a:p>
        </p:txBody>
      </p:sp>
      <p:sp>
        <p:nvSpPr>
          <p:cNvPr id="3" name="Участник 1"/>
          <p:cNvSpPr/>
          <p:nvPr/>
        </p:nvSpPr>
        <p:spPr>
          <a:xfrm>
            <a:off x="457200" y="1234440"/>
            <a:ext cx="1920240" cy="320040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" y="1508760"/>
            <a:ext cx="822960" cy="822960"/>
          </a:xfrm>
          <a:prstGeom prst="ellipse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6032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F3D3E"/>
                </a:solidFill>
                <a:latin typeface="Cambria"/>
              </a:rPr>
              <a:t>Алексеев Даниил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461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F6B6B"/>
                </a:solidFill>
                <a:latin typeface="Calibri"/>
              </a:rPr>
              <a:t>Тимлид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1188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E6F70"/>
                </a:solidFill>
                <a:latin typeface="Calibri"/>
              </a:rPr>
              <a:t>Планирование, методика, презентация</a:t>
            </a:r>
          </a:p>
        </p:txBody>
      </p:sp>
      <p:sp>
        <p:nvSpPr>
          <p:cNvPr id="8" name="Участник 2"/>
          <p:cNvSpPr/>
          <p:nvPr/>
        </p:nvSpPr>
        <p:spPr>
          <a:xfrm>
            <a:off x="2560320" y="1234440"/>
            <a:ext cx="1920240" cy="320040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108960" y="1508760"/>
            <a:ext cx="822960" cy="822960"/>
          </a:xfrm>
          <a:prstGeom prst="ellipse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СМ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256032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F3D3E"/>
                </a:solidFill>
                <a:latin typeface="Cambria"/>
              </a:rPr>
              <a:t>Слепцов Михаил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32461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F6B6B"/>
                </a:solidFill>
                <a:latin typeface="Calibri"/>
              </a:rPr>
              <a:t>DevOps / бэкенд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611880"/>
            <a:ext cx="1645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dirty="0" err="1">
                <a:solidFill>
                  <a:srgbClr val="5E6F70"/>
                </a:solidFill>
                <a:latin typeface="Calibri"/>
              </a:rPr>
              <a:t>Данные</a:t>
            </a:r>
            <a:r>
              <a:rPr sz="1300" b="0" dirty="0">
                <a:solidFill>
                  <a:srgbClr val="5E6F70"/>
                </a:solidFill>
                <a:latin typeface="Calibri"/>
              </a:rPr>
              <a:t> MOEX, </a:t>
            </a:r>
            <a:r>
              <a:rPr sz="1300" b="0" dirty="0" err="1">
                <a:solidFill>
                  <a:srgbClr val="5E6F70"/>
                </a:solidFill>
                <a:latin typeface="Calibri"/>
              </a:rPr>
              <a:t>репозиторий</a:t>
            </a:r>
            <a:r>
              <a:rPr lang="ru-RU" sz="1300" b="0" dirty="0">
                <a:solidFill>
                  <a:srgbClr val="5E6F70"/>
                </a:solidFill>
                <a:latin typeface="Calibri"/>
              </a:rPr>
              <a:t>, скрипты</a:t>
            </a:r>
            <a:endParaRPr sz="1300" b="0" dirty="0">
              <a:solidFill>
                <a:srgbClr val="5E6F70"/>
              </a:solidFill>
              <a:latin typeface="Calibri"/>
            </a:endParaRPr>
          </a:p>
        </p:txBody>
      </p:sp>
      <p:sp>
        <p:nvSpPr>
          <p:cNvPr id="13" name="Участник 3"/>
          <p:cNvSpPr/>
          <p:nvPr/>
        </p:nvSpPr>
        <p:spPr>
          <a:xfrm>
            <a:off x="4663440" y="1234440"/>
            <a:ext cx="1920240" cy="320040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212079" y="1508760"/>
            <a:ext cx="822960" cy="822960"/>
          </a:xfrm>
          <a:prstGeom prst="ellipse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АЯ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6032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F3D3E"/>
                </a:solidFill>
                <a:latin typeface="Cambria"/>
              </a:rPr>
              <a:t>Абашкин Ярослав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2461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F6B6B"/>
                </a:solidFill>
                <a:latin typeface="Calibri"/>
              </a:rPr>
              <a:t>Бэкенд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61188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E6F70"/>
                </a:solidFill>
                <a:latin typeface="Calibri"/>
              </a:rPr>
              <a:t>Расчёт сценариев в Excel</a:t>
            </a:r>
          </a:p>
        </p:txBody>
      </p:sp>
      <p:sp>
        <p:nvSpPr>
          <p:cNvPr id="18" name="Участник 4"/>
          <p:cNvSpPr/>
          <p:nvPr/>
        </p:nvSpPr>
        <p:spPr>
          <a:xfrm>
            <a:off x="6766559" y="1234440"/>
            <a:ext cx="1920240" cy="320040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199" y="1508760"/>
            <a:ext cx="822960" cy="822960"/>
          </a:xfrm>
          <a:prstGeom prst="ellipse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ЧА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560320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F3D3E"/>
                </a:solidFill>
                <a:latin typeface="Cambria"/>
              </a:rPr>
              <a:t>Чудаев Александр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2461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F6B6B"/>
                </a:solidFill>
                <a:latin typeface="Calibri"/>
              </a:rPr>
              <a:t>Фронтенд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61188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E6F70"/>
                </a:solidFill>
                <a:latin typeface="Calibri"/>
              </a:rPr>
              <a:t>Графики и визуализация</a:t>
            </a:r>
          </a:p>
        </p:txBody>
      </p:sp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9FEED4F9-69AD-D816-C4DF-3018BEE2C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088" y="4828032"/>
            <a:ext cx="320040" cy="237744"/>
          </a:xfrm>
        </p:spPr>
        <p:txBody>
          <a:bodyPr lIns="0" rIns="0" tIns="0" bIns="0" anchor="ctr"/>
          <a:lstStyle/>
          <a:p>
            <a:pPr algn="r"/>
            <a:fld id="{C1FF6DA9-008F-8B48-92A6-B652298478BF}" type="slidenum">
              <a:rPr lang="en-US" smtClean="0" sz="1100" b="0">
                <a:solidFill>
                  <a:srgbClr val="5E6F70"/>
                </a:solidFill>
                <a:latin typeface="Calibri"/>
              </a:rPr>
              <a:t>2</a:t>
            </a:fld>
            <a:endParaRPr lang="en-US"/>
          </a:p>
        </p:txBody>
      </p:sp>
      <p:sp>
        <p:nvSpPr>
          <p:cNvPr id="24" name="Нижний колонтитул 23">
            <a:extLst>
              <a:ext uri="{FF2B5EF4-FFF2-40B4-BE49-F238E27FC236}">
                <a16:creationId xmlns:a16="http://schemas.microsoft.com/office/drawing/2014/main" id="{5011FA57-D645-1C79-5A0A-4404FA4D7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424636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800" b="1" dirty="0" err="1">
                <a:solidFill>
                  <a:srgbClr val="0F3D3E"/>
                </a:solidFill>
                <a:latin typeface="Cambria"/>
              </a:rPr>
              <a:t>Как строится стресс-кривая</a:t>
            </a:r>
            <a:endParaRPr sz="2800" b="1" dirty="0">
              <a:solidFill>
                <a:srgbClr val="0F3D3E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2B2D"/>
                </a:solidFill>
                <a:latin typeface="Calibri"/>
              </a:rPr>
              <a:t>Строим кривую доходности ОФЗ и шесть её стрессовых вариантов </a:t>
            </a:r>
            <a:r>
              <a:rPr sz="1600" b="0">
                <a:solidFill>
                  <a:srgbClr val="1A2B2D"/>
                </a:solidFill>
                <a:latin typeface="Calibri"/>
              </a:rPr>
              <a:t>по методике Банка России (8-МР). По этим кривым банк оценивает, сколько он потеряет, если ставки резко изменятся.</a:t>
            </a:r>
          </a:p>
        </p:txBody>
      </p:sp>
      <p:sp>
        <p:nvSpPr>
          <p:cNvPr id="4" name="Шаг 1"/>
          <p:cNvSpPr/>
          <p:nvPr/>
        </p:nvSpPr>
        <p:spPr>
          <a:xfrm>
            <a:off x="457200" y="210312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0F3D3E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67712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3D3E"/>
                </a:solidFill>
                <a:latin typeface="Cambria"/>
              </a:rPr>
              <a:t>Данные MOEX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2B2D"/>
                </a:solidFill>
                <a:latin typeface="Calibri"/>
              </a:rPr>
              <a:t>Кривая ОФЗ на 31.07.2026: 12 точек, от 3 месяцев до 30 лет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651760"/>
            <a:ext cx="274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E0A030"/>
                </a:solidFill>
                <a:latin typeface="Calibri"/>
              </a:rPr>
              <a:t>›</a:t>
            </a:r>
          </a:p>
        </p:txBody>
      </p:sp>
      <p:sp>
        <p:nvSpPr>
          <p:cNvPr id="9" name="Шаг 2"/>
          <p:cNvSpPr/>
          <p:nvPr/>
        </p:nvSpPr>
        <p:spPr>
          <a:xfrm>
            <a:off x="3291840" y="210312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74720" y="2240280"/>
            <a:ext cx="457200" cy="457200"/>
          </a:xfrm>
          <a:prstGeom prst="ellipse">
            <a:avLst/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0F3D3E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267712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3D3E"/>
                </a:solidFill>
                <a:latin typeface="Cambria"/>
              </a:rPr>
              <a:t>Сетка ЦБ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3464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2B2D"/>
                </a:solidFill>
                <a:latin typeface="Calibri"/>
              </a:rPr>
              <a:t>19 сроков: 3 самых коротких по ближайшему значению, 16 интерполяцией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651760"/>
            <a:ext cx="274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E0A030"/>
                </a:solidFill>
                <a:latin typeface="Calibri"/>
              </a:rPr>
              <a:t>›</a:t>
            </a:r>
          </a:p>
        </p:txBody>
      </p:sp>
      <p:sp>
        <p:nvSpPr>
          <p:cNvPr id="14" name="Шаг 3"/>
          <p:cNvSpPr/>
          <p:nvPr/>
        </p:nvSpPr>
        <p:spPr>
          <a:xfrm>
            <a:off x="6126480" y="210312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09360" y="2240280"/>
            <a:ext cx="457200" cy="457200"/>
          </a:xfrm>
          <a:prstGeom prst="ellipse">
            <a:avLst/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0F3D3E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267712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6 сценариев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4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Сдвиги всей кривой, изменение наклона и коротких ставок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E6F70"/>
                </a:solidFill>
                <a:latin typeface="Calibri"/>
              </a:rPr>
              <a:t>Наши кривые дальше используют команды 1 и 3: по ним считается, как меняется стоимость портфеля банка.</a:t>
            </a:r>
          </a:p>
        </p:txBody>
      </p:sp>
      <p:sp>
        <p:nvSpPr>
          <p:cNvPr id="19" name="Номер слайда 18">
            <a:extLst>
              <a:ext uri="{FF2B5EF4-FFF2-40B4-BE49-F238E27FC236}">
                <a16:creationId xmlns:a16="http://schemas.microsoft.com/office/drawing/2014/main" id="{FDB6BDB7-3527-A3A2-96C0-1C8FD4A5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088" y="4828032"/>
            <a:ext cx="320040" cy="237744"/>
          </a:xfrm>
        </p:spPr>
        <p:txBody>
          <a:bodyPr lIns="0" rIns="0" tIns="0" bIns="0" anchor="ctr"/>
          <a:lstStyle/>
          <a:p>
            <a:pPr algn="r"/>
            <a:fld id="{C1FF6DA9-008F-8B48-92A6-B652298478BF}" type="slidenum">
              <a:rPr lang="en-US" smtClean="0" sz="1100" b="0">
                <a:solidFill>
                  <a:srgbClr val="5E6F70"/>
                </a:solidFill>
                <a:latin typeface="Calibri"/>
              </a:rPr>
              <a:t>3</a:t>
            </a:fld>
            <a:endParaRPr lang="en-US"/>
          </a:p>
        </p:txBody>
      </p:sp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E60856EE-9ECA-33A5-307B-2E7995D11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F3D3E"/>
                </a:solidFill>
                <a:latin typeface="Cambria"/>
              </a:rPr>
              <a:t>Шесть сценариев по 8-МР (рубль)</a:t>
            </a:r>
          </a:p>
        </p:txBody>
      </p:sp>
      <p:graphicFrame>
        <p:nvGraphicFramePr>
          <p:cNvPr id="3" name="Таблица сценариев"/>
          <p:cNvGraphicFramePr>
            <a:graphicFrameLocks noGrp="1"/>
          </p:cNvGraphicFramePr>
          <p:nvPr/>
        </p:nvGraphicFramePr>
        <p:xfrm>
          <a:off x="457200" y="1143000"/>
          <a:ext cx="8229600" cy="262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№</a:t>
                      </a:r>
                    </a:p>
                  </a:txBody>
                  <a:tcPr marL="109728" marR="109728" anchor="ctr"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Сценарий</a:t>
                      </a:r>
                    </a:p>
                  </a:txBody>
                  <a:tcPr marL="109728" marR="109728" anchor="ctr"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Расчётная ставка</a:t>
                      </a:r>
                    </a:p>
                  </a:txBody>
                  <a:tcPr marL="109728" marR="109728" anchor="ctr"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B2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109728" anchor="ctr">
                    <a:solidFill>
                      <a:srgbClr val="EE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B2D"/>
                          </a:solidFill>
                          <a:latin typeface="Calibri"/>
                        </a:rPr>
                        <a:t>Параллельно вверх</a:t>
                      </a:r>
                    </a:p>
                  </a:txBody>
                  <a:tcPr marL="109728" marR="109728" anchor="ctr">
                    <a:solidFill>
                      <a:srgbClr val="EE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2B2D"/>
                          </a:solidFill>
                          <a:latin typeface="Calibri"/>
                        </a:rPr>
                        <a:t>БС + 4</a:t>
                      </a:r>
                    </a:p>
                  </a:txBody>
                  <a:tcPr marL="109728" marR="109728" anchor="ctr">
                    <a:solidFill>
                      <a:srgbClr val="EE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B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B2D"/>
                          </a:solidFill>
                          <a:latin typeface="Calibri"/>
                        </a:rPr>
                        <a:t>Параллельно вниз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2B2D"/>
                          </a:solidFill>
                          <a:latin typeface="Calibri"/>
                        </a:rPr>
                        <a:t>БС − 4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B2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109728" anchor="ctr">
                    <a:solidFill>
                      <a:srgbClr val="EE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B2D"/>
                          </a:solidFill>
                          <a:latin typeface="Calibri"/>
                        </a:rPr>
                        <a:t>Увеличение наклона</a:t>
                      </a:r>
                    </a:p>
                  </a:txBody>
                  <a:tcPr marL="109728" marR="109728" anchor="ctr">
                    <a:solidFill>
                      <a:srgbClr val="EE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2B2D"/>
                          </a:solidFill>
                          <a:latin typeface="Calibri"/>
                        </a:rPr>
                        <a:t>БС − 0,65·5·e^(−T/4) + 0,9·3·(1 − e^(−T/4))</a:t>
                      </a:r>
                    </a:p>
                  </a:txBody>
                  <a:tcPr marL="109728" marR="109728" anchor="ctr">
                    <a:solidFill>
                      <a:srgbClr val="EE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B2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B2D"/>
                          </a:solidFill>
                          <a:latin typeface="Calibri"/>
                        </a:rPr>
                        <a:t>Уменьшение наклона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2B2D"/>
                          </a:solidFill>
                          <a:latin typeface="Calibri"/>
                        </a:rPr>
                        <a:t>БС + 0,8·5·e^(−T/4) − 0,6·3·(1 − e^(−T/4))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B2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9728" marR="109728" anchor="ctr">
                    <a:solidFill>
                      <a:srgbClr val="EE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B2D"/>
                          </a:solidFill>
                          <a:latin typeface="Calibri"/>
                        </a:rPr>
                        <a:t>Рост коротких ставок</a:t>
                      </a:r>
                    </a:p>
                  </a:txBody>
                  <a:tcPr marL="109728" marR="109728" anchor="ctr">
                    <a:solidFill>
                      <a:srgbClr val="EE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2B2D"/>
                          </a:solidFill>
                          <a:latin typeface="Calibri"/>
                        </a:rPr>
                        <a:t>БС + 5·e^(−T/4)</a:t>
                      </a:r>
                    </a:p>
                  </a:txBody>
                  <a:tcPr marL="109728" marR="109728" anchor="ctr">
                    <a:solidFill>
                      <a:srgbClr val="EE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B2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B2D"/>
                          </a:solidFill>
                          <a:latin typeface="Calibri"/>
                        </a:rPr>
                        <a:t>Снижение коротких ставок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2B2D"/>
                          </a:solidFill>
                          <a:latin typeface="Calibri"/>
                        </a:rPr>
                        <a:t>БС − 5·e^(−T/4)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77639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2B2D"/>
                </a:solidFill>
                <a:latin typeface="Calibri"/>
              </a:rPr>
              <a:t>БС</a:t>
            </a:r>
            <a:r>
              <a:rPr sz="1400" b="0">
                <a:solidFill>
                  <a:srgbClr val="1A2B2D"/>
                </a:solidFill>
                <a:latin typeface="Calibri"/>
              </a:rPr>
              <a:t> — базовая ставка, %;  </a:t>
            </a:r>
            <a:r>
              <a:rPr sz="1400" b="1">
                <a:solidFill>
                  <a:srgbClr val="1A2B2D"/>
                </a:solidFill>
                <a:latin typeface="Calibri"/>
              </a:rPr>
              <a:t>T</a:t>
            </a:r>
            <a:r>
              <a:rPr sz="1400" b="0">
                <a:solidFill>
                  <a:srgbClr val="1A2B2D"/>
                </a:solidFill>
                <a:latin typeface="Calibri"/>
              </a:rPr>
              <a:t> — срок до середины интервала, лет.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B2D"/>
                </a:solidFill>
                <a:latin typeface="Calibri"/>
              </a:rPr>
              <a:t>Параметры для рубля (таблица 3 8-МР): параллельный сдвиг 4 п.п., короткие ставки 5 п.п., длинные 3 п.п.; t = 4.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2D9FAEF-33AC-FFED-030B-9BD59E091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088" y="4828032"/>
            <a:ext cx="320040" cy="237744"/>
          </a:xfrm>
        </p:spPr>
        <p:txBody>
          <a:bodyPr lIns="0" rIns="0" tIns="0" bIns="0" anchor="ctr"/>
          <a:lstStyle/>
          <a:p>
            <a:pPr algn="r"/>
            <a:fld id="{C1FF6DA9-008F-8B48-92A6-B652298478BF}" type="slidenum">
              <a:rPr lang="en-US" smtClean="0" sz="1100" b="0">
                <a:solidFill>
                  <a:srgbClr val="5E6F70"/>
                </a:solidFill>
                <a:latin typeface="Calibri"/>
              </a:rPr>
              <a:t>4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6CF63D-DC30-269D-E727-F34FD63DE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F3D3E"/>
                </a:solidFill>
                <a:latin typeface="Cambria"/>
              </a:rPr>
              <a:t>Результат: базовая кривая и шесть сценариев</a:t>
            </a:r>
          </a:p>
        </p:txBody>
      </p:sp>
      <p:pic>
        <p:nvPicPr>
          <p:cNvPr id="3" name="Сводный график" descr="curve_all_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183323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14300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F6B6B"/>
                </a:solidFill>
                <a:latin typeface="Cambria"/>
              </a:rPr>
              <a:t>±4 п.п.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572768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2B2D"/>
                </a:solidFill>
                <a:latin typeface="Calibri"/>
              </a:rPr>
              <a:t>Параллельные сценарии поднимают или опускают всю кривую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233172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F6B6B"/>
                </a:solidFill>
                <a:latin typeface="Cambria"/>
              </a:rPr>
              <a:t>10,3 → 18,7 %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761487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2B2D"/>
                </a:solidFill>
                <a:latin typeface="Calibri"/>
              </a:rPr>
              <a:t>Увеличение наклона: короткие ставки падают, длинные растут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5204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F6B6B"/>
                </a:solidFill>
                <a:latin typeface="Cambria"/>
              </a:rPr>
              <a:t>18,6 %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950208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2B2D"/>
                </a:solidFill>
                <a:latin typeface="Calibri"/>
              </a:rPr>
              <a:t>Рост коротких: сильный шок на коротком конце, на длинном ставка почти не меняется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E830FA00-0374-E735-041B-53B43B7A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088" y="4828032"/>
            <a:ext cx="320040" cy="237744"/>
          </a:xfrm>
        </p:spPr>
        <p:txBody>
          <a:bodyPr lIns="0" rIns="0" tIns="0" bIns="0" anchor="ctr"/>
          <a:lstStyle/>
          <a:p>
            <a:pPr algn="r"/>
            <a:fld id="{C1FF6DA9-008F-8B48-92A6-B652298478BF}" type="slidenum">
              <a:rPr lang="en-US" smtClean="0" sz="1100" b="0">
                <a:solidFill>
                  <a:srgbClr val="5E6F70"/>
                </a:solidFill>
                <a:latin typeface="Calibri"/>
              </a:rPr>
              <a:t>5</a:t>
            </a:fld>
            <a:endParaRPr lang="en-US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52D51CA4-835D-4BFC-5231-E985731E1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F3D3E"/>
                </a:solidFill>
                <a:latin typeface="Cambria"/>
              </a:rPr>
              <a:t>Задачи и репозиторий</a:t>
            </a:r>
          </a:p>
        </p:txBody>
      </p:sp>
      <p:pic>
        <p:nvPicPr>
          <p:cNvPr id="3" name="Скриншот Сфера.Задачи" descr="sfera_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7863840" cy="23237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43018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6F70"/>
                </a:solidFill>
                <a:latin typeface="Calibri"/>
              </a:rPr>
              <a:t>Скриншот: задачи спринта 1 в Сфера.Задачи</a:t>
            </a:r>
          </a:p>
        </p:txBody>
      </p:sp>
      <p:sp>
        <p:nvSpPr>
          <p:cNvPr id="5" name="Итог по задачам"/>
          <p:cNvSpPr/>
          <p:nvPr/>
        </p:nvSpPr>
        <p:spPr>
          <a:xfrm>
            <a:off x="457200" y="3771900"/>
            <a:ext cx="5577840" cy="114300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90906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3D3E"/>
                </a:solidFill>
                <a:latin typeface="Cambria"/>
              </a:rPr>
              <a:t>5 из 5 задач спринта закрыты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6626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2B2D"/>
                </a:solidFill>
                <a:latin typeface="Calibri"/>
              </a:rPr>
              <a:t>У каждой задачи есть исполнитель, срок и оценка</a:t>
            </a:r>
          </a:p>
        </p:txBody>
      </p:sp>
      <p:pic>
        <p:nvPicPr>
          <p:cNvPr id="8" name="QR GitLab" descr="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771900"/>
            <a:ext cx="1143000" cy="1143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0" y="3771900"/>
            <a:ext cx="1143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0F3D3E"/>
                </a:solidFill>
                <a:latin typeface="Calibri"/>
              </a:rPr>
              <a:t>Репозиторий</a:t>
            </a:r>
          </a:p>
          <a:p>
            <a:pPr algn="r">
              <a:spcAft>
                <a:spcPts val="0"/>
              </a:spcAft>
            </a:pPr>
            <a:r>
              <a:rPr sz="1200" b="0">
                <a:solidFill>
                  <a:srgbClr val="0F3D3E"/>
                </a:solidFill>
                <a:latin typeface="Calibri"/>
              </a:rPr>
              <a:t>GitLab МАИ</a:t>
            </a:r>
          </a:p>
          <a:p>
            <a:pPr algn="r">
              <a:spcAft>
                <a:spcPts val="0"/>
              </a:spcAft>
            </a:pPr>
            <a:r>
              <a:rPr sz="1200" b="0">
                <a:solidFill>
                  <a:srgbClr val="0F3D3E"/>
                </a:solidFill>
                <a:latin typeface="Calibri"/>
              </a:rPr>
              <a:t>ветка develop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94E6EA30-4319-37A2-D99E-76F76DC66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088" y="4828032"/>
            <a:ext cx="320040" cy="237744"/>
          </a:xfrm>
        </p:spPr>
        <p:txBody>
          <a:bodyPr lIns="0" rIns="0" tIns="0" bIns="0" anchor="ctr"/>
          <a:lstStyle/>
          <a:p>
            <a:pPr algn="r"/>
            <a:fld id="{C1FF6DA9-008F-8B48-92A6-B652298478BF}" type="slidenum">
              <a:rPr lang="en-US" smtClean="0" sz="1100" b="0">
                <a:solidFill>
                  <a:srgbClr val="5E6F70"/>
                </a:solidFill>
                <a:latin typeface="Calibri"/>
              </a:rPr>
              <a:t>6</a:t>
            </a:fld>
            <a:endParaRPr lang="en-US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4EB7EEF2-CCA6-287A-CE8F-CB07CB8AD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F3D3E"/>
                </a:solidFill>
                <a:latin typeface="Cambria"/>
              </a:rPr>
              <a:t>Что мы сделали за спринт 1</a:t>
            </a:r>
          </a:p>
        </p:txBody>
      </p:sp>
      <p:sp>
        <p:nvSpPr>
          <p:cNvPr id="3" name="Итог 1"/>
          <p:cNvSpPr/>
          <p:nvPr/>
        </p:nvSpPr>
        <p:spPr>
          <a:xfrm>
            <a:off x="457200" y="1188720"/>
            <a:ext cx="2560320" cy="150876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44168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3D3E"/>
                </a:solidFill>
                <a:latin typeface="Cambria"/>
              </a:rPr>
              <a:t>Разобрались с темой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2B2D"/>
                </a:solidFill>
                <a:latin typeface="Calibri"/>
              </a:rPr>
              <a:t>Процентный риск и методика Банка России 8-МР</a:t>
            </a:r>
          </a:p>
        </p:txBody>
      </p:sp>
      <p:sp>
        <p:nvSpPr>
          <p:cNvPr id="7" name="Итог 2"/>
          <p:cNvSpPr/>
          <p:nvPr/>
        </p:nvSpPr>
        <p:spPr>
          <a:xfrm>
            <a:off x="3291840" y="1188720"/>
            <a:ext cx="2560320" cy="150876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74720" y="1371600"/>
            <a:ext cx="411480" cy="411480"/>
          </a:xfrm>
          <a:prstGeom prst="ellipse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344168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3D3E"/>
                </a:solidFill>
                <a:latin typeface="Cambria"/>
              </a:rPr>
              <a:t>Выгрузили данные MOEX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2B2D"/>
                </a:solidFill>
                <a:latin typeface="Calibri"/>
              </a:rPr>
              <a:t>Кривая ОФЗ на 31.07.2026, 12 точек до 30 лет</a:t>
            </a:r>
          </a:p>
        </p:txBody>
      </p:sp>
      <p:sp>
        <p:nvSpPr>
          <p:cNvPr id="11" name="Итог 3"/>
          <p:cNvSpPr/>
          <p:nvPr/>
        </p:nvSpPr>
        <p:spPr>
          <a:xfrm>
            <a:off x="6126480" y="1188720"/>
            <a:ext cx="2560320" cy="150876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09360" y="1371600"/>
            <a:ext cx="411480" cy="411480"/>
          </a:xfrm>
          <a:prstGeom prst="ellipse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344168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3D3E"/>
                </a:solidFill>
                <a:latin typeface="Cambria"/>
              </a:rPr>
              <a:t>Привели к сетке ЦБ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2B2D"/>
                </a:solidFill>
                <a:latin typeface="Calibri"/>
              </a:rPr>
              <a:t>19 сроков: скрипт на Python и формулы в Excel</a:t>
            </a:r>
          </a:p>
        </p:txBody>
      </p:sp>
      <p:sp>
        <p:nvSpPr>
          <p:cNvPr id="15" name="Итог 4"/>
          <p:cNvSpPr/>
          <p:nvPr/>
        </p:nvSpPr>
        <p:spPr>
          <a:xfrm>
            <a:off x="457200" y="2926080"/>
            <a:ext cx="2560320" cy="150876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81528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3D3E"/>
                </a:solidFill>
                <a:latin typeface="Cambria"/>
              </a:rPr>
              <a:t>Посчитали 6 сценариев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2B2D"/>
                </a:solidFill>
                <a:latin typeface="Calibri"/>
              </a:rPr>
              <a:t>Формулы в Excel, сверка с примером заказчика</a:t>
            </a:r>
          </a:p>
        </p:txBody>
      </p:sp>
      <p:sp>
        <p:nvSpPr>
          <p:cNvPr id="19" name="Итог 5"/>
          <p:cNvSpPr/>
          <p:nvPr/>
        </p:nvSpPr>
        <p:spPr>
          <a:xfrm>
            <a:off x="3291840" y="2926080"/>
            <a:ext cx="2560320" cy="150876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474720" y="3108960"/>
            <a:ext cx="411480" cy="411480"/>
          </a:xfrm>
          <a:prstGeom prst="ellipse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081528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3D3E"/>
                </a:solidFill>
                <a:latin typeface="Cambria"/>
              </a:rPr>
              <a:t>Построили графики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65760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2B2D"/>
                </a:solidFill>
                <a:latin typeface="Calibri"/>
              </a:rPr>
              <a:t>6 сценариев и сводный график</a:t>
            </a:r>
          </a:p>
        </p:txBody>
      </p:sp>
      <p:sp>
        <p:nvSpPr>
          <p:cNvPr id="23" name="Итог 6"/>
          <p:cNvSpPr/>
          <p:nvPr/>
        </p:nvSpPr>
        <p:spPr>
          <a:xfrm>
            <a:off x="6126480" y="2926080"/>
            <a:ext cx="2560320" cy="150876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09360" y="3108960"/>
            <a:ext cx="411480" cy="411480"/>
          </a:xfrm>
          <a:prstGeom prst="ellipse">
            <a:avLst/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081528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3D3E"/>
                </a:solidFill>
                <a:latin typeface="Cambria"/>
              </a:rPr>
              <a:t>Настроили работу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65760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2B2D"/>
                </a:solidFill>
                <a:latin typeface="Calibri"/>
              </a:rPr>
              <a:t>Репозиторий GitLab и задачи в Сфере</a:t>
            </a:r>
          </a:p>
        </p:txBody>
      </p:sp>
      <p:sp>
        <p:nvSpPr>
          <p:cNvPr id="27" name="Кто делал 1"/>
          <p:cNvSpPr txBox="1"/>
          <p:nvPr/>
        </p:nvSpPr>
        <p:spPr>
          <a:xfrm>
            <a:off x="640080" y="23134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>
                <a:solidFill>
                  <a:srgbClr val="5E6F70"/>
                </a:solidFill>
                <a:latin typeface="Calibri"/>
              </a:rPr>
              <a:t>Кто: </a:t>
            </a:r>
            <a:r>
              <a:rPr sz="1300" b="1">
                <a:solidFill>
                  <a:srgbClr val="0F6B6B"/>
                </a:solidFill>
                <a:latin typeface="Calibri"/>
              </a:rPr>
              <a:t>Вся команда</a:t>
            </a:r>
          </a:p>
        </p:txBody>
      </p:sp>
      <p:sp>
        <p:nvSpPr>
          <p:cNvPr id="28" name="Кто делал 2"/>
          <p:cNvSpPr txBox="1"/>
          <p:nvPr/>
        </p:nvSpPr>
        <p:spPr>
          <a:xfrm>
            <a:off x="3474720" y="23134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>
                <a:solidFill>
                  <a:srgbClr val="5E6F70"/>
                </a:solidFill>
                <a:latin typeface="Calibri"/>
              </a:rPr>
              <a:t>Кто: </a:t>
            </a:r>
            <a:r>
              <a:rPr sz="1300" b="1">
                <a:solidFill>
                  <a:srgbClr val="0F6B6B"/>
                </a:solidFill>
                <a:latin typeface="Calibri"/>
              </a:rPr>
              <a:t>Михаил</a:t>
            </a:r>
          </a:p>
        </p:txBody>
      </p:sp>
      <p:sp>
        <p:nvSpPr>
          <p:cNvPr id="29" name="Кто делал 3"/>
          <p:cNvSpPr txBox="1"/>
          <p:nvPr/>
        </p:nvSpPr>
        <p:spPr>
          <a:xfrm>
            <a:off x="6309360" y="23134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>
                <a:solidFill>
                  <a:srgbClr val="5E6F70"/>
                </a:solidFill>
                <a:latin typeface="Calibri"/>
              </a:rPr>
              <a:t>Кто: </a:t>
            </a:r>
            <a:r>
              <a:rPr sz="1300" b="1">
                <a:solidFill>
                  <a:srgbClr val="0F6B6B"/>
                </a:solidFill>
                <a:latin typeface="Calibri"/>
              </a:rPr>
              <a:t>Михаил, Ярослав</a:t>
            </a:r>
          </a:p>
        </p:txBody>
      </p:sp>
      <p:sp>
        <p:nvSpPr>
          <p:cNvPr id="30" name="Кто делал 4"/>
          <p:cNvSpPr txBox="1"/>
          <p:nvPr/>
        </p:nvSpPr>
        <p:spPr>
          <a:xfrm>
            <a:off x="640080" y="40507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>
                <a:solidFill>
                  <a:srgbClr val="5E6F70"/>
                </a:solidFill>
                <a:latin typeface="Calibri"/>
              </a:rPr>
              <a:t>Кто: </a:t>
            </a:r>
            <a:r>
              <a:rPr sz="1300" b="1">
                <a:solidFill>
                  <a:srgbClr val="0F6B6B"/>
                </a:solidFill>
                <a:latin typeface="Calibri"/>
              </a:rPr>
              <a:t>Ярослав</a:t>
            </a:r>
          </a:p>
        </p:txBody>
      </p:sp>
      <p:sp>
        <p:nvSpPr>
          <p:cNvPr id="31" name="Кто делал 5"/>
          <p:cNvSpPr txBox="1"/>
          <p:nvPr/>
        </p:nvSpPr>
        <p:spPr>
          <a:xfrm>
            <a:off x="3474720" y="40507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>
                <a:solidFill>
                  <a:srgbClr val="5E6F70"/>
                </a:solidFill>
                <a:latin typeface="Calibri"/>
              </a:rPr>
              <a:t>Кто: </a:t>
            </a:r>
            <a:r>
              <a:rPr sz="1300" b="1">
                <a:solidFill>
                  <a:srgbClr val="0F6B6B"/>
                </a:solidFill>
                <a:latin typeface="Calibri"/>
              </a:rPr>
              <a:t>Александр</a:t>
            </a:r>
          </a:p>
        </p:txBody>
      </p:sp>
      <p:sp>
        <p:nvSpPr>
          <p:cNvPr id="32" name="Кто делал 6"/>
          <p:cNvSpPr txBox="1"/>
          <p:nvPr/>
        </p:nvSpPr>
        <p:spPr>
          <a:xfrm>
            <a:off x="6309360" y="40507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>
                <a:solidFill>
                  <a:srgbClr val="5E6F70"/>
                </a:solidFill>
                <a:latin typeface="Calibri"/>
              </a:rPr>
              <a:t>Кто: </a:t>
            </a:r>
            <a:r>
              <a:rPr sz="1300" b="1">
                <a:solidFill>
                  <a:srgbClr val="0F6B6B"/>
                </a:solidFill>
                <a:latin typeface="Calibri"/>
              </a:rPr>
              <a:t>Даниил, Михаил</a:t>
            </a:r>
          </a:p>
        </p:txBody>
      </p:sp>
      <p:sp>
        <p:nvSpPr>
          <p:cNvPr id="33" name="Номер слайда 32">
            <a:extLst>
              <a:ext uri="{FF2B5EF4-FFF2-40B4-BE49-F238E27FC236}">
                <a16:creationId xmlns:a16="http://schemas.microsoft.com/office/drawing/2014/main" id="{77B37C56-31F2-9558-2CBE-E4354EADC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088" y="4828032"/>
            <a:ext cx="320040" cy="237744"/>
          </a:xfrm>
        </p:spPr>
        <p:txBody>
          <a:bodyPr lIns="0" rIns="0" tIns="0" bIns="0" anchor="ctr"/>
          <a:lstStyle/>
          <a:p>
            <a:pPr algn="r"/>
            <a:fld id="{C1FF6DA9-008F-8B48-92A6-B652298478BF}" type="slidenum">
              <a:rPr lang="en-US" smtClean="0" sz="1100" b="0">
                <a:solidFill>
                  <a:srgbClr val="5E6F70"/>
                </a:solidFill>
                <a:latin typeface="Calibri"/>
              </a:rPr>
              <a:t>7</a:t>
            </a:fld>
            <a:endParaRPr lang="en-US"/>
          </a:p>
        </p:txBody>
      </p:sp>
      <p:sp>
        <p:nvSpPr>
          <p:cNvPr id="34" name="Нижний колонтитул 33">
            <a:extLst>
              <a:ext uri="{FF2B5EF4-FFF2-40B4-BE49-F238E27FC236}">
                <a16:creationId xmlns:a16="http://schemas.microsoft.com/office/drawing/2014/main" id="{5FFF8A5B-4520-E50A-18B2-C18106AC6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F3D3E"/>
                </a:solidFill>
                <a:latin typeface="Cambria"/>
              </a:rPr>
              <a:t>Куда идём: архитектура модуля</a:t>
            </a:r>
          </a:p>
        </p:txBody>
      </p:sp>
      <p:sp>
        <p:nvSpPr>
          <p:cNvPr id="3" name="Блок 1"/>
          <p:cNvSpPr/>
          <p:nvPr/>
        </p:nvSpPr>
        <p:spPr>
          <a:xfrm>
            <a:off x="457200" y="1234440"/>
            <a:ext cx="1783080" cy="14630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3D3E"/>
                </a:solidFill>
                <a:latin typeface="Cambria"/>
              </a:rPr>
              <a:t>MOEX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2B2D"/>
                </a:solidFill>
                <a:latin typeface="Calibri"/>
              </a:rPr>
              <a:t>Кривая ОФЗ с биржи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691640"/>
            <a:ext cx="274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E0A030"/>
                </a:solidFill>
                <a:latin typeface="Calibri"/>
              </a:rPr>
              <a:t>›</a:t>
            </a:r>
          </a:p>
        </p:txBody>
      </p:sp>
      <p:sp>
        <p:nvSpPr>
          <p:cNvPr id="7" name="Блок 2"/>
          <p:cNvSpPr/>
          <p:nvPr/>
        </p:nvSpPr>
        <p:spPr>
          <a:xfrm>
            <a:off x="2606040" y="1234440"/>
            <a:ext cx="1783080" cy="14630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137160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3D3E"/>
                </a:solidFill>
                <a:latin typeface="Cambria"/>
              </a:rPr>
              <a:t>Загрузка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2B2D"/>
                </a:solidFill>
                <a:latin typeface="Calibri"/>
              </a:rPr>
              <a:t>Python-скрипт по расписанию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91640"/>
            <a:ext cx="274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E0A030"/>
                </a:solidFill>
                <a:latin typeface="Calibri"/>
              </a:rPr>
              <a:t>›</a:t>
            </a:r>
          </a:p>
        </p:txBody>
      </p:sp>
      <p:sp>
        <p:nvSpPr>
          <p:cNvPr id="11" name="Блок 3"/>
          <p:cNvSpPr/>
          <p:nvPr/>
        </p:nvSpPr>
        <p:spPr>
          <a:xfrm>
            <a:off x="4754880" y="1234440"/>
            <a:ext cx="1783080" cy="14630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37160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3D3E"/>
                </a:solidFill>
                <a:latin typeface="Cambria"/>
              </a:rPr>
              <a:t>Расчёт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828800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2B2D"/>
                </a:solidFill>
                <a:latin typeface="Calibri"/>
              </a:rPr>
              <a:t>19 сроков и 6 сценариев на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691640"/>
            <a:ext cx="274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E0A030"/>
                </a:solidFill>
                <a:latin typeface="Calibri"/>
              </a:rPr>
              <a:t>›</a:t>
            </a:r>
          </a:p>
        </p:txBody>
      </p:sp>
      <p:sp>
        <p:nvSpPr>
          <p:cNvPr id="15" name="Блок 4"/>
          <p:cNvSpPr/>
          <p:nvPr/>
        </p:nvSpPr>
        <p:spPr>
          <a:xfrm>
            <a:off x="6903720" y="1234440"/>
            <a:ext cx="1783080" cy="1463040"/>
          </a:xfrm>
          <a:prstGeom prst="roundRect">
            <a:avLst>
              <a:gd name="adj" fmla="val 6000"/>
            </a:avLst>
          </a:prstGeom>
          <a:solidFill>
            <a:srgbClr val="0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0" y="137160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Витрина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828800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Сайт: графики, выбор сценария, выгрузка</a:t>
            </a:r>
          </a:p>
        </p:txBody>
      </p:sp>
      <p:sp>
        <p:nvSpPr>
          <p:cNvPr id="18" name="Хранение"/>
          <p:cNvSpPr/>
          <p:nvPr/>
        </p:nvSpPr>
        <p:spPr>
          <a:xfrm>
            <a:off x="457200" y="2926080"/>
            <a:ext cx="8229600" cy="685800"/>
          </a:xfrm>
          <a:prstGeom prst="roundRect">
            <a:avLst>
              <a:gd name="adj" fmla="val 6000"/>
            </a:avLst>
          </a:prstGeom>
          <a:solidFill>
            <a:srgbClr val="FB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92608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2B2D"/>
                </a:solidFill>
                <a:latin typeface="Calibri"/>
              </a:rPr>
              <a:t>База данных: </a:t>
            </a:r>
            <a:r>
              <a:rPr sz="1400" b="0">
                <a:solidFill>
                  <a:srgbClr val="1A2B2D"/>
                </a:solidFill>
                <a:latin typeface="Calibri"/>
              </a:rPr>
              <a:t>храним кривые за разные даты и результаты сценариев, их же забирают команды 1 и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6B6B"/>
                </a:solidFill>
                <a:latin typeface="Calibri"/>
              </a:rPr>
              <a:t>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965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2B2D"/>
                </a:solidFill>
                <a:latin typeface="Calibri"/>
              </a:rPr>
              <a:t>pandas, numpy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79476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6B6B"/>
                </a:solidFill>
                <a:latin typeface="Calibri"/>
              </a:rPr>
              <a:t>Сервер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0965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2B2D"/>
                </a:solidFill>
                <a:latin typeface="Calibri"/>
              </a:rPr>
              <a:t>FastAPI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79476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6B6B"/>
                </a:solidFill>
                <a:latin typeface="Calibri"/>
              </a:rPr>
              <a:t>База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965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2B2D"/>
                </a:solidFill>
                <a:latin typeface="Calibri"/>
              </a:rPr>
              <a:t>PostgreSQL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379476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6B6B"/>
                </a:solidFill>
                <a:latin typeface="Calibri"/>
              </a:rPr>
              <a:t>Запуск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40965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2B2D"/>
                </a:solidFill>
                <a:latin typeface="Calibri"/>
              </a:rPr>
              <a:t>Docker, GitLab 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 err="1">
                <a:solidFill>
                  <a:srgbClr val="5E6F70"/>
                </a:solidFill>
                <a:latin typeface="Calibri"/>
              </a:rPr>
              <a:t>Стек</a:t>
            </a:r>
            <a:r>
              <a:rPr sz="1100" b="0" dirty="0">
                <a:solidFill>
                  <a:srgbClr val="5E6F7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E6F70"/>
                </a:solidFill>
                <a:latin typeface="Calibri"/>
              </a:rPr>
              <a:t>предварительный</a:t>
            </a:r>
            <a:r>
              <a:rPr sz="1100" b="0" dirty="0">
                <a:solidFill>
                  <a:srgbClr val="5E6F70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5E6F70"/>
                </a:solidFill>
                <a:latin typeface="Calibri"/>
              </a:rPr>
              <a:t>уточним</a:t>
            </a:r>
            <a:r>
              <a:rPr sz="1100" b="0" dirty="0">
                <a:solidFill>
                  <a:srgbClr val="5E6F7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E6F70"/>
                </a:solidFill>
                <a:latin typeface="Calibri"/>
              </a:rPr>
              <a:t>в</a:t>
            </a:r>
            <a:r>
              <a:rPr sz="1100" b="0" dirty="0">
                <a:solidFill>
                  <a:srgbClr val="5E6F7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E6F70"/>
                </a:solidFill>
                <a:latin typeface="Calibri"/>
              </a:rPr>
              <a:t>следующем</a:t>
            </a:r>
            <a:r>
              <a:rPr sz="1100" b="0" dirty="0">
                <a:solidFill>
                  <a:srgbClr val="5E6F7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E6F70"/>
                </a:solidFill>
                <a:latin typeface="Calibri"/>
              </a:rPr>
              <a:t>спринте</a:t>
            </a:r>
            <a:endParaRPr sz="1100" b="0" dirty="0">
              <a:solidFill>
                <a:srgbClr val="5E6F70"/>
              </a:solidFill>
              <a:latin typeface="Calibri"/>
            </a:endParaRPr>
          </a:p>
        </p:txBody>
      </p:sp>
      <p:sp>
        <p:nvSpPr>
          <p:cNvPr id="29" name="Номер слайда 28">
            <a:extLst>
              <a:ext uri="{FF2B5EF4-FFF2-40B4-BE49-F238E27FC236}">
                <a16:creationId xmlns:a16="http://schemas.microsoft.com/office/drawing/2014/main" id="{558D4814-7FC6-B369-90B5-6AAEF5C8D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088" y="4828032"/>
            <a:ext cx="320040" cy="237744"/>
          </a:xfrm>
        </p:spPr>
        <p:txBody>
          <a:bodyPr lIns="0" rIns="0" tIns="0" bIns="0" anchor="ctr"/>
          <a:lstStyle/>
          <a:p>
            <a:pPr algn="r"/>
            <a:fld id="{C1FF6DA9-008F-8B48-92A6-B652298478BF}" type="slidenum">
              <a:rPr lang="en-US" smtClean="0" sz="1100" b="0">
                <a:solidFill>
                  <a:srgbClr val="5E6F70"/>
                </a:solidFill>
                <a:latin typeface="Calibri"/>
              </a:rPr>
              <a:t>8</a:t>
            </a:fld>
            <a:endParaRPr lang="en-US"/>
          </a:p>
        </p:txBody>
      </p:sp>
      <p:sp>
        <p:nvSpPr>
          <p:cNvPr id="30" name="Нижний колонтитул 29">
            <a:extLst>
              <a:ext uri="{FF2B5EF4-FFF2-40B4-BE49-F238E27FC236}">
                <a16:creationId xmlns:a16="http://schemas.microsoft.com/office/drawing/2014/main" id="{FF1337F4-8E61-8F65-A121-98EF20CA6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424636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800" b="1" dirty="0" err="1">
                <a:solidFill>
                  <a:srgbClr val="FFFFFF"/>
                </a:solidFill>
                <a:latin typeface="Cambria"/>
              </a:rPr>
              <a:t>Планы</a:t>
            </a:r>
            <a:r>
              <a:rPr sz="28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mbria"/>
              </a:rPr>
              <a:t>на</a:t>
            </a:r>
            <a:r>
              <a:rPr sz="28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mbria"/>
              </a:rPr>
              <a:t>следующий</a:t>
            </a:r>
            <a:r>
              <a:rPr sz="28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mbria"/>
              </a:rPr>
              <a:t>спринт</a:t>
            </a:r>
            <a:endParaRPr sz="28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Oval 2"/>
          <p:cNvSpPr/>
          <p:nvPr/>
        </p:nvSpPr>
        <p:spPr>
          <a:xfrm>
            <a:off x="457200" y="1280160"/>
            <a:ext cx="594360" cy="594360"/>
          </a:xfrm>
          <a:prstGeom prst="ellipse">
            <a:avLst/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0F3D3E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Загрузка сама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CE7E4"/>
                </a:solidFill>
                <a:latin typeface="Calibri"/>
              </a:rPr>
              <a:t>Кривая с биржи загружается автоматически на любую дату</a:t>
            </a:r>
          </a:p>
        </p:txBody>
      </p:sp>
      <p:sp>
        <p:nvSpPr>
          <p:cNvPr id="6" name="Oval 5"/>
          <p:cNvSpPr/>
          <p:nvPr/>
        </p:nvSpPr>
        <p:spPr>
          <a:xfrm>
            <a:off x="3291840" y="1280160"/>
            <a:ext cx="594360" cy="594360"/>
          </a:xfrm>
          <a:prstGeom prst="ellipse">
            <a:avLst/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0F3D3E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0574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Расчёт в коде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56032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CE7E4"/>
                </a:solidFill>
                <a:latin typeface="Calibri"/>
              </a:rPr>
              <a:t>Переносим формулы сценариев из Excel в Python</a:t>
            </a:r>
          </a:p>
        </p:txBody>
      </p:sp>
      <p:sp>
        <p:nvSpPr>
          <p:cNvPr id="9" name="Oval 8"/>
          <p:cNvSpPr/>
          <p:nvPr/>
        </p:nvSpPr>
        <p:spPr>
          <a:xfrm>
            <a:off x="6126480" y="1280160"/>
            <a:ext cx="594360" cy="594360"/>
          </a:xfrm>
          <a:prstGeom prst="ellipse">
            <a:avLst/>
          </a:prstGeom>
          <a:solidFill>
            <a:srgbClr val="E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0F3D3E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0574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Первый сайт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56032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CE7E4"/>
                </a:solidFill>
                <a:latin typeface="Calibri"/>
              </a:rPr>
              <a:t>Страница с графиками и выбором сценария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8229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dirty="0" err="1">
                <a:solidFill>
                  <a:srgbClr val="E0A030"/>
                </a:solidFill>
                <a:latin typeface="Cambria"/>
              </a:rPr>
              <a:t>Спасибо</a:t>
            </a:r>
            <a:r>
              <a:rPr sz="2400" b="1" dirty="0">
                <a:solidFill>
                  <a:srgbClr val="E0A030"/>
                </a:solidFill>
                <a:latin typeface="Cambria"/>
              </a:rPr>
              <a:t> </a:t>
            </a:r>
            <a:r>
              <a:rPr sz="2400" b="1" dirty="0" err="1">
                <a:solidFill>
                  <a:srgbClr val="E0A030"/>
                </a:solidFill>
                <a:latin typeface="Cambria"/>
              </a:rPr>
              <a:t>за</a:t>
            </a:r>
            <a:r>
              <a:rPr sz="2400" b="1" dirty="0">
                <a:solidFill>
                  <a:srgbClr val="E0A030"/>
                </a:solidFill>
                <a:latin typeface="Cambria"/>
              </a:rPr>
              <a:t> </a:t>
            </a:r>
            <a:r>
              <a:rPr sz="2400" b="1" dirty="0" err="1">
                <a:solidFill>
                  <a:srgbClr val="E0A030"/>
                </a:solidFill>
                <a:latin typeface="Cambria"/>
              </a:rPr>
              <a:t>внимание</a:t>
            </a:r>
            <a:r>
              <a:rPr sz="2400" b="1" dirty="0">
                <a:solidFill>
                  <a:srgbClr val="E0A030"/>
                </a:solidFill>
                <a:latin typeface="Cambria"/>
              </a:rPr>
              <a:t>!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B3055FE1-F118-E906-495C-F65999D1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5088" y="4828032"/>
            <a:ext cx="320040" cy="237744"/>
          </a:xfrm>
        </p:spPr>
        <p:txBody>
          <a:bodyPr lIns="0" rIns="0" tIns="0" bIns="0" anchor="ctr"/>
          <a:lstStyle/>
          <a:p>
            <a:pPr algn="r"/>
            <a:fld id="{C1FF6DA9-008F-8B48-92A6-B652298478BF}" type="slidenum">
              <a:rPr lang="en-US" smtClean="0" sz="1100" b="0">
                <a:solidFill>
                  <a:srgbClr val="C9D8D5"/>
                </a:solidFill>
                <a:latin typeface="Calibri"/>
              </a:rPr>
              <a:t>9</a:t>
            </a:fld>
            <a:endParaRPr lang="en-US"/>
          </a:p>
        </p:txBody>
      </p:sp>
      <p:sp>
        <p:nvSpPr>
          <p:cNvPr id="14" name="Нижний колонтитул 13">
            <a:extLst>
              <a:ext uri="{FF2B5EF4-FFF2-40B4-BE49-F238E27FC236}">
                <a16:creationId xmlns:a16="http://schemas.microsoft.com/office/drawing/2014/main" id="{726B385D-FFE2-B556-13AB-E676B4EB1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601</Words>
  <Application>Microsoft Macintosh PowerPoint</Application>
  <PresentationFormat>Экран (16:9)</PresentationFormat>
  <Paragraphs>139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Стресс-сценарии IRRBB на кривой доходности ОФЗ</dc:title>
  <dc:subject/>
  <dc:creator>Команда 2</dc:creator>
  <cp:keywords/>
  <dc:description>generated using python-pptx</dc:description>
  <cp:lastModifiedBy>Даниил Алексеев</cp:lastModifiedBy>
  <cp:revision>4</cp:revision>
  <dcterms:created xsi:type="dcterms:W3CDTF">2013-01-27T09:14:16Z</dcterms:created>
  <dcterms:modified xsi:type="dcterms:W3CDTF">2026-10-10T09:05:02Z</dcterms:modified>
  <cp:category/>
</cp:coreProperties>
</file>